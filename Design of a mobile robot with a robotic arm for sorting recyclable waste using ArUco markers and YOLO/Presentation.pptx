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64" r:id="rId4"/>
    <p:sldId id="257" r:id="rId5"/>
    <p:sldId id="271" r:id="rId6"/>
    <p:sldId id="258" r:id="rId7"/>
    <p:sldId id="259" r:id="rId8"/>
    <p:sldId id="261" r:id="rId9"/>
    <p:sldId id="266" r:id="rId10"/>
    <p:sldId id="272" r:id="rId11"/>
    <p:sldId id="260" r:id="rId12"/>
    <p:sldId id="263" r:id="rId13"/>
    <p:sldId id="273" r:id="rId14"/>
    <p:sldId id="262" r:id="rId15"/>
    <p:sldId id="269" r:id="rId16"/>
    <p:sldId id="265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077B6B-B6C8-8414-DFD4-5A362D4BF269}" v="150" dt="2025-06-30T19:06:15.433"/>
    <p1510:client id="{68D33F0E-DDC3-C667-56A7-47703603FDBF}" v="104" dt="2025-06-30T16:38:23.576"/>
    <p1510:client id="{7637334E-DB68-FA82-A796-C6F6D25004E0}" v="1984" dt="2025-06-30T18:21:55.1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89" d="100"/>
          <a:sy n="89" d="100"/>
        </p:scale>
        <p:origin x="2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30T18:50:40.3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22846 10925 16383 0 0,'0'4'0'0'0,"-5"2"0"0"0,-5 0 0 0 0,-6 3 0 0 0,-5 0 0 0 0,-2-1 0 0 0,-3-3 0 0 0,-1-1 0 0 0,0-2 0 0 0,0-1 0 0 0,-1-1 0 0 0,2 0 0 0 0,8 0 0 0 0,12-1 0 0 0,12 1 0 0 0,9 0 0 0 0,6-1 0 0 0,5 1 0 0 0,1 0 0 0 0,2 0 0 0 0,-1 0 0 0 0,0 0 0 0 0,0 0 0 0 0,-1 0 0 0 0,-1 0 0 0 0,1 0 0 0 0,-1 0 0 0 0,0 0 0 0 0,0 0 0 0 0,0 0 0 0 0,0 0 0 0 0,0 0 0 0 0,0 0 0 0 0,0 0 0 0 0,1 0 0 0 0,-10 0 0 0 0,-12 0 0 0 0,-11 0 0 0 0,-9 0 0 0 0,-6 0 0 0 0,-4 0 0 0 0,-3 0 0 0 0,0 0 0 0 0,-1 0 0 0 0,1 0 0 0 0,1 0 0 0 0,0 0 0 0 0,0 0 0 0 0,1 0 0 0 0,0 0 0 0 0,0 0 0 0 0,0 0 0 0 0,-1 0 0 0 0,6-4 0 0 0,10-2 0 0 0,15 0 0 0 0,13 2 0 0 0,6 1 0 0 0,5 1 0 0 0,2 0 0 0 0,0 2 0 0 0,-1 0 0 0 0,0 0 0 0 0,3 0 0 0 0,1 1 0 0 0,0-1 0 0 0,-3 0 0 0 0,0 0 0 0 0,-11 0 0 0 0,-8 5 0 0 0,-11 1 0 0 0,-10-1 0 0 0,-7 0 0 0 0,-5 2 0 0 0,-4 1 0 0 0,-1-1 0 0 0,-2-2 0 0 0,1-2 0 0 0,1-1 0 0 0,-1-1 0 0 0,1-1 0 0 0,1 0 0 0 0,0-1 0 0 0,-1 1 0 0 0,10 0 0 0 0,12 0 0 0 0,11-1 0 0 0,9 1 0 0 0,6 0 0 0 0,5 0 0 0 0,1 0 0 0 0,2 0 0 0 0,-1 0 0 0 0,0 0 0 0 0,0 0 0 0 0,-10 0 0 0 0,-12 0 0 0 0,-12 0 0 0 0,-9 0 0 0 0,-6 0 0 0 0,-5 0 0 0 0,-1 0 0 0 0,-2 0 0 0 0,1 0 0 0 0,0 0 0 0 0,0 0 0 0 0,1 0 0 0 0,0 0 0 0 0,1 0 0 0 0,0 0 0 0 0,0 0 0 0 0,0 0 0 0 0,4-4 0 0 0,6-6 0 0 0,2-2 0 0 0,2-3 0 0 0,4-3 0 0 0,12 2 0 0 0,10 2 0 0 0,7 5 0 0 0,4 3 0 0 0,3 3 0 0 0,0 2 0 0 0,1 1 0 0 0,-1 1 0 0 0,-1 0 0 0 0,0 0 0 0 0,0-1 0 0 0,0 1 0 0 0,-1-1 0 0 0,0 0 0 0 0,-5 4 0 0 0,-9 2 0 0 0,-13 4 0 0 0,-9 1 0 0 0,-8-2 0 0 0,-6-3 0 0 0,2 3 0 0 0,0-1 0 0 0,-1-1 0 0 0,0-2 0 0 0,-2-2 0 0 0,0-2 0 0 0,-1 0 0 0 0,0-1 0 0 0,0 0 0 0 0,0-1 0 0 0,8 1 0 0 0,13 0 0 0 0,10-1 0 0 0,10 1 0 0 0,2-4 0 0 0,3-2 0 0 0,1 0 0 0 0,3 2 0 0 0,1 0 0 0 0,1 2 0 0 0,1 1 0 0 0,4 1 0 0 0,2 0 0 0 0,-1 0 0 0 0,3 0 0 0 0,1 1 0 0 0,-3-1 0 0 0,-10 0 0 0 0,-14 0 0 0 0,-12 0 0 0 0,-7 5 0 0 0,-5 1 0 0 0,-5-1 0 0 0,-4 0 0 0 0,3 2 0 0 0,0 1 0 0 0,0-1 0 0 0,-2-2 0 0 0,-1-2 0 0 0,-1-1 0 0 0,4-6 0 0 0,1-1 0 0 0,4-6 0 0 0,4-4 0 0 0,5-4 0 0 0,4-4 0 0 0,6 2 0 0 0,2 1 0 0 0,6 3 0 0 0,5 5 0 0 0,0-1 0 0 0,1 3 0 0 0,3 3 0 0 0,-7 2 0 0 0,-10 2 0 0 0,-10 2 0 0 0,-8 1 0 0 0,-6 0 0 0 0,5 1 0 0 0,9-1 0 0 0,11 1 0 0 0,9-1 0 0 0,7 0 0 0 0,4 1 0 0 0,3-1 0 0 0,1 0 0 0 0,0 0 0 0 0,0 0 0 0 0,-1 0 0 0 0,-4 4 0 0 0,-7 6 0 0 0,-5 6 0 0 0,-1 0 0 0 0,-2 2 0 0 0,-2 2 0 0 0,-2 3 0 0 0,-7-4 0 0 0,-2 1 0 0 0,-5-4 0 0 0,-5-5 0 0 0,0-12 0 0 0,2-12 0 0 0,4-7 0 0 0,8 0 0 0 0,3-2 0 0 0,7 4 0 0 0,1-1 0 0 0,4 0 0 0 0,3 2 0 0 0,4 5 0 0 0,3 3 0 0 0,-3 9 0 0 0,-5 8 0 0 0,-6 7 0 0 0,-3 6 0 0 0,-4 4 0 0 0,-2 2 0 0 0,-6 0 0 0 0,-6-4 0 0 0,-2-1 0 0 0,-2-5 0 0 0,-4 0 0 0 0,1-8 0 0 0,5-10 0 0 0,4-9 0 0 0,3-8 0 0 0,3-4 0 0 0,6-4 0 0 0,3-1 0 0 0,5 3 0 0 0,0 2 0 0 0,3 5 0 0 0,-1 0 0 0 0,2 3 0 0 0,-2 0 0 0 0,2 2 0 0 0,2 3 0 0 0,3-1 0 0 0,3 1 0 0 0,-3 6 0 0 0,-5 9 0 0 0,-5 7 0 0 0,-4 6 0 0 0,-3 4 0 0 0,-2 3 0 0 0,-1 1 0 0 0,-1 1 0 0 0,-5-5 0 0 0,0-1 0 0 0,-5-5 0 0 0,0-1 0 0 0,-3-3 0 0 0,2 1 0 0 0,-3-2 0 0 0,-2-3 0 0 0,-3-4 0 0 0,1 3 0 0 0,1-1 0 0 0,-2-1 0 0 0,-2-1 0 0 0,-2-3 0 0 0,0 0 0 0 0,-2-2 0 0 0,0 0 0 0 0,0 0 0 0 0,-1 0 0 0 0,1-1 0 0 0,4-3 0 0 0,1-2 0 0 0,5-5 0 0 0,1 1 0 0 0,2-3 0 0 0,-1 0 0 0 0,2-1 0 0 0,-1 1 0 0 0,-3 3 0 0 0,1-1 0 0 0,-1 1 0 0 0,-3 2 0 0 0,-2 3 0 0 0,-2 2 0 0 0,-1 1 0 0 0,-2 2 0 0 0,0 0 0 0 0,-1 1 0 0 0,0-1 0 0 0,1 0 0 0 0,-1 1 0 0 0,10-1 0 0 0,11 0 0 0 0,12 0 0 0 0,9 0 0 0 0,6 0 0 0 0,5 0 0 0 0,1 0 0 0 0,2 0 0 0 0,-1 0 0 0 0,-4 5 0 0 0,-11 1 0 0 0,-13-1 0 0 0,-5 4 0 0 0,-7 0 0 0 0,-6-1 0 0 0,1 2 0 0 0,-2 0 0 0 0,-2-3 0 0 0,-2-1 0 0 0,-1-3 0 0 0,-1-1 0 0 0,-1-2 0 0 0,4 5 0 0 0,1 1 0 0 0,0-1 0 0 0,-1-1 0 0 0,4-6 0 0 0,4-6 0 0 0,5-7 0 0 0,8-1 0 0 0,9 2 0 0 0,7 5 0 0 0,2-2 0 0 0,2 1 0 0 0,2 3 0 0 0,2 2 0 0 0,1 2 0 0 0,2 1 0 0 0,0 2 0 0 0,1 0 0 0 0,-1 1 0 0 0,-3 4 0 0 0,-12 1 0 0 0,-11 0 0 0 0,-10-1 0 0 0,-4 2 0 0 0,-3 1 0 0 0,-4-1 0 0 0,-2-2 0 0 0,-3-2 0 0 0,0 4 0 0 0,-1-1 0 0 0,1 0 0 0 0,-1-2 0 0 0,0-1 0 0 0,1-1 0 0 0,-1-1 0 0 0,5-6 0 0 0,7-5 0 0 0,4-6 0 0 0,1-1 0 0 0,2-1 0 0 0,2-2 0 0 0,7 2 0 0 0,7 4 0 0 0,3 0 0 0 0,3 3 0 0 0,5 3 0 0 0,2 2 0 0 0,3 3 0 0 0,2 2 0 0 0,0 1 0 0 0,1 0 0 0 0,0 1 0 0 0,0 0 0 0 0,0-1 0 0 0,-1 0 0 0 0,0 1 0 0 0,-4 3 0 0 0,-6 7 0 0 0,-6 5 0 0 0,-9 4 0 0 0,-9 4 0 0 0,-7-3 0 0 0,-7-4 0 0 0,-3-6 0 0 0,-1-4 0 0 0,-2-4 0 0 0,0-2 0 0 0,0-1 0 0 0,1-1 0 0 0,0 0 0 0 0,0 0 0 0 0,1 0 0 0 0,0 1 0 0 0,0-1 0 0 0,4-3 0 0 0,6-7 0 0 0,6-5 0 0 0,5-4 0 0 0,2-4 0 0 0,7 3 0 0 0,3 0 0 0 0,4 4 0 0 0,5 5 0 0 0,4 4 0 0 0,4 3 0 0 0,1 4 0 0 0,1 0 0 0 0,1 2 0 0 0,-4 4 0 0 0,-6 7 0 0 0,-7 4 0 0 0,-8 1 0 0 0,-10-3 0 0 0,-7-4 0 0 0,-6-4 0 0 0,-4-2 0 0 0,-2-3 0 0 0,-1-1 0 0 0,0 0 0 0 0,0-1 0 0 0,1 0 0 0 0,0 1 0 0 0,0-1 0 0 0,5-3 0 0 0,7-7 0 0 0,9-5 0 0 0,11 0 0 0 0,8 3 0 0 0,8 3 0 0 0,3 4 0 0 0,3 2 0 0 0,-3 7 0 0 0,-7 7 0 0 0,-5 7 0 0 0,-5 4 0 0 0,-3 3 0 0 0,-3 3 0 0 0,-6-5 0 0 0,-2 0 0 0 0,-4-5 0 0 0,-1 0 0 0 0,-2-3 0 0 0,-3-5 0 0 0,0 2 0 0 0,0-2 0 0 0,-2-2 0 0 0,-2-2 0 0 0,2-7 0 0 0,4-7 0 0 0,6-7 0 0 0,3-5 0 0 0,3-3 0 0 0,7-2 0 0 0,6 3 0 0 0,3 2 0 0 0,2 3 0 0 0,4 6 0 0 0,3 4 0 0 0,2 4 0 0 0,2 3 0 0 0,0 1 0 0 0,-4 5 0 0 0,-1 2 0 0 0,-4 4 0 0 0,-1 0 0 0 0,-3 3 0 0 0,-3 3 0 0 0,-5 3 0 0 0,-1 3 0 0 0,-3 2 0 0 0,-5-3 0 0 0,-7-6 0 0 0,-1-1 0 0 0,-4-3 0 0 0,-2-3 0 0 0,-4-4 0 0 0,-2-2 0 0 0,-1-2 0 0 0,-2-1 0 0 0,1 0 0 0 0,3-6 0 0 0,7-5 0 0 0,5-5 0 0 0,5-5 0 0 0,4-3 0 0 0,6 2 0 0 0,7 6 0 0 0,6 5 0 0 0,0 0 0 0 0,2 1 0 0 0,2 4 0 0 0,2 1 0 0 0,1 3 0 0 0,1 1 0 0 0,1 1 0 0 0,1 0 0 0 0,-1 1 0 0 0,1-1 0 0 0,-1 1 0 0 0,1-1 0 0 0,-1 0 0 0 0,0 0 0 0 0,0 0 0 0 0,0 0 0 0 0,0 0 0 0 0,-4 5 0 0 0,-6 5 0 0 0,-10 2 0 0 0,-11-2 0 0 0,-9-3 0 0 0,-6-1 0 0 0,-4-3 0 0 0,-3-2 0 0 0,-1 0 0 0 0,0-1 0 0 0,0-1 0 0 0,0 1 0 0 0,1-1 0 0 0,0 1 0 0 0,1 0 0 0 0,0-1 0 0 0,0 1 0 0 0,-1 0 0 0 0,1 0 0 0 0,0 0 0 0 0,5-4 0 0 0,5-6 0 0 0,6-6 0 0 0,4-5 0 0 0,8 2 0 0 0,8 3 0 0 0,7 6 0 0 0,5 3 0 0 0,3 3 0 0 0,1 3 0 0 0,2 1 0 0 0,0 1 0 0 0,-1 0 0 0 0,0-1 0 0 0,0 1 0 0 0,0 0 0 0 0,-1-1 0 0 0,0 0 0 0 0,0 0 0 0 0,0 0 0 0 0,0 0 0 0 0,1 0 0 0 0,-6 4 0 0 0,-1 2 0 0 0,1 0 0 0 0,0-2 0 0 0,2 0 0 0 0,-3 2 0 0 0,-1 1 0 0 0,1-1 0 0 0,-3 3 0 0 0,-8 0 0 0 0,-7 3 0 0 0,-7-1 0 0 0,-8-2 0 0 0,-6-2 0 0 0,1 1 0 0 0,-2 0 0 0 0,-1-1 0 0 0,-2 2 0 0 0,-2-1 0 0 0,0 0 0 0 0,-1 1 0 0 0,8 0 0 0 0,13-1 0 0 0,10-3 0 0 0,10-2 0 0 0,6-1 0 0 0,4-1 0 0 0,-2-6 0 0 0,0-1 0 0 0,0 0 0 0 0,0 1 0 0 0,-3-3 0 0 0,-1 0 0 0 0,1 1 0 0 0,1 2 0 0 0,2 2 0 0 0,-3-4 0 0 0,-5-4 0 0 0,-10 0 0 0 0,-9 1 0 0 0,-5-2 0 0 0,-5 1 0 0 0,-5 3 0 0 0,2-3 0 0 0,-2 2 0 0 0,3-3 0 0 0,0 1 0 0 0,-3 2 0 0 0,3-1 0 0 0,0 0 0 0 0,-3 2 0 0 0,-2 3 0 0 0,3-3 0 0 0,-1 1 0 0 0,-1-4 0 0 0,-1 1 0 0 0,2-3 0 0 0,0 1 0 0 0,-1 2 0 0 0,3-1 0 0 0,0 1 0 0 0,-2 3 0 0 0,-2 1 0 0 0,-1 3 0 0 0,2-3 0 0 0,0 0 0 0 0,0 0 0 0 0,-2 2 0 0 0,3 6 0 0 0,10 2 0 0 0,9 1 0 0 0,7 4 0 0 0,5 0 0 0 0,5-1 0 0 0,0 2 0 0 0,2 0 0 0 0,2-2 0 0 0,1-2 0 0 0,2-3 0 0 0,-3 3 0 0 0,-1 1 0 0 0,1-2 0 0 0,1 0 0 0 0,1-3 0 0 0,1 0 0 0 0,2-1 0 0 0,0-1 0 0 0,0 0 0 0 0,-4 4 0 0 0,-2 2 0 0 0,1-1 0 0 0,1-1 0 0 0,1-1 0 0 0,1-1 0 0 0,1-1 0 0 0,1 0 0 0 0,0-1 0 0 0,0 0 0 0 0,0-1 0 0 0,1 1 0 0 0,-1 0 0 0 0,0 0 0 0 0,1 0 0 0 0,-1 0 0 0 0,0 0 0 0 0,0 0 0 0 0,-9 0 0 0 0,-11 0 0 0 0,-12 0 0 0 0,-9 0 0 0 0,-6 0 0 0 0,-9 0 0 0 0,-4 0 0 0 0,0 0 0 0 0,1 0 0 0 0,2 0 0 0 0,2 0 0 0 0,0 0 0 0 0,2 0 0 0 0,1 0 0 0 0,0 0 0 0 0,0 0 0 0 0,0 0 0 0 0,1 0 0 0 0,8 0 0 0 0,11 0 0 0 0,12 0 0 0 0,9 0 0 0 0,7 0 0 0 0,3 0 0 0 0,2 0 0 0 0,2 0 0 0 0,-1 0 0 0 0,0 0 0 0 0,0 0 0 0 0,-1 0 0 0 0,-1 0 0 0 0,1 0 0 0 0,-1 0 0 0 0,0 0 0 0 0,0 0 0 0 0,0 0 0 0 0,0 0 0 0 0,-4 4 0 0 0,-11 2 0 0 0,-11 0 0 0 0,-6 3 0 0 0,-6 0 0 0 0,-6 3 0 0 0,-4-1 0 0 0,-3-1 0 0 0,-1-4 0 0 0,3 3 0 0 0,2-1 0 0 0,-1-2 0 0 0,0-1 0 0 0,-2-2 0 0 0,0-2 0 0 0,-2 0 0 0 0,5 3 0 0 0,1 2 0 0 0,-1-1 0 0 0,-1 4 0 0 0,-1 0 0 0 0,-1-2 0 0 0,-1-1 0 0 0,-1-3 0 0 0,0-1 0 0 0,0-1 0 0 0,-1-1 0 0 0,1 0 0 0 0,-1 0 0 0 0,1-1 0 0 0,0 1 0 0 0,0 0 0 0 0,0 0 0 0 0,0 0 0 0 0,-1-1 0 0 0,1 1 0 0 0,0 0 0 0 0,0 1 0 0 0,0-1 0 0 0,0-5 0 0 0,0-1 0 0 0,0 1 0 0 0,-1 0 0 0 0,1 2 0 0 0,0 1 0 0 0,0 1 0 0 0,0 0 0 0 0,0 1 0 0 0,0 0 0 0 0,-1 1 0 0 0,6-5 0 0 0,1-2 0 0 0,-1 0 0 0 0,-1 2 0 0 0,0 1 0 0 0,-3 1 0 0 0,0 1 0 0 0,4 5 0 0 0,5 6 0 0 0,10 2 0 0 0,7 3 0 0 0,2 3 0 0 0,0 3 0 0 0,1 3 0 0 0,4-3 0 0 0,4-5 0 0 0,6-5 0 0 0,-2-10 0 0 0,3-3 0 0 0,-4-8 0 0 0,-3-5 0 0 0,-4-5 0 0 0,-4-4 0 0 0,-6 3 0 0 0,-3 9 0 0 0,-6 7 0 0 0,0 8 0 0 0,-3 4 0 0 0,1-4 0 0 0,3-6 0 0 0,2-8 0 0 0,4-6 0 0 0,-3-1 0 0 0,0-1 0 0 0,2-1 0 0 0,0-3 0 0 0,-2 3 0 0 0,0 0 0 0 0,5 4 0 0 0,8 5 0 0 0,2 8 0 0 0,5 5 0 0 0,0 6 0 0 0,-2 7 0 0 0,-3 5 0 0 0,-3 3 0 0 0,-2 3 0 0 0,-2 1 0 0 0,-1-9 0 0 0,-5-7 0 0 0,-1-9 0 0 0,-1-11 0 0 0,2-7 0 0 0,2-6 0 0 0,1-4 0 0 0,5-1 0 0 0,7 4 0 0 0,6 5 0 0 0,4 6 0 0 0,4 5 0 0 0,-2 9 0 0 0,-1 7 0 0 0,-3 8 0 0 0,-2 0 0 0 0,-2 2 0 0 0,-4 2 0 0 0,-8-2 0 0 0,-9-5 0 0 0,-7-5 0 0 0,-2-7 0 0 0,2-10 0 0 0,3-7 0 0 0,4-6 0 0 0,8 1 0 0 0,2-1 0 0 0,7 3 0 0 0,5 5 0 0 0,5 5 0 0 0,3 3 0 0 0,3 3 0 0 0,0 2 0 0 0,2 0 0 0 0,-6 5 0 0 0,0 2 0 0 0,-6 4 0 0 0,-4 4 0 0 0,-5 5 0 0 0,-3 3 0 0 0,-7-3 0 0 0,-3 1 0 0 0,-5-5 0 0 0,-5-4 0 0 0,-4-4 0 0 0,-3-4 0 0 0,-3-2 0 0 0,0-2 0 0 0,-1 0 0 0 0,4-5 0 0 0,2-2 0 0 0,4-4 0 0 0,6-4 0 0 0,-1-1 0 0 0,2 0 0 0 0,3-4 0 0 0,3-1 0 0 0,1-3 0 0 0,7 4 0 0 0,2 0 0 0 0,4 3 0 0 0,5 6 0 0 0,5 3 0 0 0,-1 9 0 0 0,0 3 0 0 0,2 1 0 0 0,-3 5 0 0 0,-5 4 0 0 0,-4 5 0 0 0,-4 4 0 0 0,-2 1 0 0 0,-7-2 0 0 0,-7-6 0 0 0,-6-4 0 0 0,-4-6 0 0 0,-3-3 0 0 0,-3-6 0 0 0,0-4 0 0 0,4-4 0 0 0,6-5 0 0 0,6-4 0 0 0,4-3 0 0 0,5-2 0 0 0,1-2 0 0 0,2 0 0 0 0,4 4 0 0 0,7 7 0 0 0,5 5 0 0 0,0 9 0 0 0,1 6 0 0 0,-2 5 0 0 0,0 2 0 0 0,-2 4 0 0 0,-3 3 0 0 0,0-1 0 0 0,-1 0 0 0 0,-3 3 0 0 0,-2 2 0 0 0,-2 1 0 0 0,-2 2 0 0 0,-5-4 0 0 0,-7-5 0 0 0,-5-5 0 0 0,-5-5 0 0 0,-3-3 0 0 0,-2-3 0 0 0,-1 0 0 0 0,4-6 0 0 0,6-5 0 0 0,1-2 0 0 0,4-2 0 0 0,-1 1 0 0 0,-2 3 0 0 0,5 3 0 0 0,9-1 0 0 0,10 0 0 0 0,6 3 0 0 0,7 1 0 0 0,3 3 0 0 0,2 0 0 0 0,1 2 0 0 0,-1 0 0 0 0,1 0 0 0 0,-1 1 0 0 0,0-1 0 0 0,0 0 0 0 0,-1 1 0 0 0,1-1 0 0 0,-6 4 0 0 0,-1 2 0 0 0,1 0 0 0 0,0-2 0 0 0,2 0 0 0 0,1-2 0 0 0,1-1 0 0 0,1-1 0 0 0,-4 4 0 0 0,-2 2 0 0 0,1 0 0 0 0,1-2 0 0 0,1-1 0 0 0,1-1 0 0 0,1-1 0 0 0,1-1 0 0 0,0 0 0 0 0,0 0 0 0 0,1 0 0 0 0,-5 4 0 0 0,-2 2 0 0 0,1-1 0 0 0,-4 4 0 0 0,0 0 0 0 0,-3 3 0 0 0,-4 4 0 0 0,-8-1 0 0 0,-9-2 0 0 0,-7-5 0 0 0,-6-2 0 0 0,-5-4 0 0 0,-1 0 0 0 0,-2-2 0 0 0,0-1 0 0 0,1 0 0 0 0,-1 1 0 0 0,1-1 0 0 0,1 1 0 0 0,-1 0 0 0 0,1-1 0 0 0,0 1 0 0 0,4-4 0 0 0,2-2 0 0 0,0 0 0 0 0,-2 2 0 0 0,-1 1 0 0 0,8 1 0 0 0,11 1 0 0 0,10 0 0 0 0,5 6 0 0 0,4 1 0 0 0,4 0 0 0 0,4-1 0 0 0,2-2 0 0 0,1-1 0 0 0,-3-1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30T18:50:40.3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22167 10953 16383 0 0,'-4'0'0'0'0,"-7"0"0"0"0,-5 0 0 0 0,-4 0 0 0 0,-4 0 0 0 0,3 4 0 0 0,0 2 0 0 0,-1 0 0 0 0,4 3 0 0 0,0 0 0 0 0,3 3 0 0 0,0-1 0 0 0,-2-1 0 0 0,2 1 0 0 0,-1-1 0 0 0,-3-2 0 0 0,3 1 0 0 0,-1 1 0 0 0,-2-3 0 0 0,3 2 0 0 0,3 5 0 0 0,0-1 0 0 0,-2-2 0 0 0,1 1 0 0 0,7-1 0 0 0,10-3 0 0 0,9-2 0 0 0,6-3 0 0 0,5-1 0 0 0,3-2 0 0 0,-3-4 0 0 0,-1-3 0 0 0,0 1 0 0 0,1 1 0 0 0,1 1 0 0 0,1 2 0 0 0,0 1 0 0 0,1 0 0 0 0,-4-3 0 0 0,-2-2 0 0 0,1 1 0 0 0,1 1 0 0 0,1 1 0 0 0,1 1 0 0 0,1 1 0 0 0,1 0 0 0 0,0 1 0 0 0,0 1 0 0 0,1-1 0 0 0,-1 0 0 0 0,0 0 0 0 0,1 0 0 0 0,-1 1 0 0 0,0-1 0 0 0,0 0 0 0 0,0 0 0 0 0,0 0 0 0 0,0 0 0 0 0,1 0 0 0 0,-6-5 0 0 0,-1-1 0 0 0,1 1 0 0 0,1 0 0 0 0,0 2 0 0 0,3 1 0 0 0,0 1 0 0 0,0 0 0 0 0,-3-3 0 0 0,-2-2 0 0 0,1 1 0 0 0,-3-4 0 0 0,-1 0 0 0 0,-3-3 0 0 0,1 1 0 0 0,2 1 0 0 0,-2-1 0 0 0,1 1 0 0 0,2 3 0 0 0,-2-3 0 0 0,1 1 0 0 0,-2-3 0 0 0,0 1 0 0 0,-2-2 0 0 0,1 1 0 0 0,-2-2 0 0 0,2 1 0 0 0,2 4 0 0 0,4 2 0 0 0,2 3 0 0 0,2 2 0 0 0,2 2 0 0 0,-4 4 0 0 0,-10 7 0 0 0,-12 1 0 0 0,-10-1 0 0 0,-8-3 0 0 0,-5-2 0 0 0,-3-3 0 0 0,-2-1 0 0 0,0-2 0 0 0,0 0 0 0 0,0-1 0 0 0,5-4 0 0 0,2-1 0 0 0,0 0 0 0 0,-1-3 0 0 0,-1-1 0 0 0,-1 3 0 0 0,-1 1 0 0 0,0 3 0 0 0,-1 0 0 0 0,-1 3 0 0 0,1-1 0 0 0,0 2 0 0 0,-1-1 0 0 0,1 1 0 0 0,0-1 0 0 0,0 0 0 0 0,0 0 0 0 0,-1 0 0 0 0,1 0 0 0 0,0 0 0 0 0,0 0 0 0 0,4 5 0 0 0,2 1 0 0 0,0-1 0 0 0,3 4 0 0 0,4 5 0 0 0,9-1 0 0 0,6 3 0 0 0,1 3 0 0 0,6-3 0 0 0,1-2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1T04:37:35.4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17624 11671 16383 0 0,'-5'0'0'0'0,"-6"0"0"0"0,0 4 0 0 0,-4 2 0 0 0,-4 0 0 0 0,2 3 0 0 0,-1 1 0 0 0,2 2 0 0 0,5 5 0 0 0,-2-2 0 0 0,-2-2 0 0 0,2 0 0 0 0,-3-1 0 0 0,7-4 0 0 0,5-6 0 0 0,7-5 0 0 0,8-1 0 0 0,2-5 0 0 0,4-1 0 0 0,3-3 0 0 0,-2-4 0 0 0,1 1 0 0 0,1 3 0 0 0,3 4 0 0 0,1 4 0 0 0,1 2 0 0 0,-3-3 0 0 0,-1 0 0 0 0,0 0 0 0 0,1 3 0 0 0,2 0 0 0 0,1 1 0 0 0,1 2 0 0 0,1 0 0 0 0,-1 0 0 0 0,1 0 0 0 0,-4 5 0 0 0,-2 1 0 0 0,0 0 0 0 0,1-1 0 0 0,2-2 0 0 0,1-1 0 0 0,0-1 0 0 0,2 4 0 0 0,0 1 0 0 0,0 0 0 0 0,0-2 0 0 0,0-1 0 0 0,0-1 0 0 0,0-1 0 0 0,-5-5 0 0 0,-1-2 0 0 0,0 0 0 0 0,-4-4 0 0 0,-4-4 0 0 0,0 0 0 0 0,2-2 0 0 0,4 1 0 0 0,-2 0 0 0 0,0 1 0 0 0,3 4 0 0 0,-3-2 0 0 0,-3-2 0 0 0,-1 0 0 0 0,3 3 0 0 0,3 3 0 0 0,-2-1 0 0 0,1 0 0 0 0,2 3 0 0 0,2 1 0 0 0,2 2 0 0 0,1 2 0 0 0,2 0 0 0 0,-1 1 0 0 0,2 1 0 0 0,-1-1 0 0 0,0 0 0 0 0,0 1 0 0 0,-5 3 0 0 0,-5 7 0 0 0,-7 6 0 0 0,-4 4 0 0 0,-4 3 0 0 0,-1 3 0 0 0,-2 0 0 0 0,-5-4 0 0 0,-1-1 0 0 0,-4-4 0 0 0,-5-6 0 0 0,0 0 0 0 0,-1-2 0 0 0,2 2 0 0 0,-2-2 0 0 0,-1-1 0 0 0,2-8 0 0 0,3-8 0 0 0,4-8 0 0 0,4-5 0 0 0,3-5 0 0 0,6 3 0 0 0,2 0 0 0 0,5 4 0 0 0,5 5 0 0 0,4 4 0 0 0,-1 0 0 0 0,1 1 0 0 0,2 2 0 0 0,1 2 0 0 0,-4-3 0 0 0,1 0 0 0 0,-4-3 0 0 0,0-1 0 0 0,2 2 0 0 0,3 3 0 0 0,1 2 0 0 0,3 2 0 0 0,-4 5 0 0 0,-5 8 0 0 0,-10 6 0 0 0,-10 0 0 0 0,-10-3 0 0 0,-1 1 0 0 0,-4-2 0 0 0,2 1 0 0 0,-1-2 0 0 0,-2-3 0 0 0,-2-2 0 0 0,3 1 0 0 0,0 0 0 0 0,-2-2 0 0 0,-1-2 0 0 0,-2-1 0 0 0,-1-1 0 0 0,-1-2 0 0 0,-1 0 0 0 0,0 0 0 0 0,0 0 0 0 0,0-1 0 0 0,0 1 0 0 0,0 0 0 0 0,0 0 0 0 0,5-5 0 0 0,1-1 0 0 0,5-4 0 0 0,-1-1 0 0 0,0 2 0 0 0,1-2 0 0 0,0 0 0 0 0,2-2 0 0 0,-1 1 0 0 0,2-1 0 0 0,-1 0 0 0 0,1-1 0 0 0,-1 1 0 0 0,2-1 0 0 0,-2 1 0 0 0,1-1 0 0 0,4-4 0 0 0,2-2 0 0 0,3 6 0 0 0,7 6 0 0 0,3 9 0 0 0,-5 3 0 0 0,-6 2 0 0 0,-8 0 0 0 0,-5-1 0 0 0,-5-2 0 0 0,6-1 0 0 0,11-1 0 0 0,11-1 0 0 0,4 5 0 0 0,1 5 0 0 0,-1 7 0 0 0,-7-1 0 0 0,-8 2 0 0 0,-8-2 0 0 0,-6-4 0 0 0,-4-4 0 0 0,-3-3 0 0 0,4 2 0 0 0,1 0 0 0 0,-1-2 0 0 0,0-1 0 0 0,-2-1 0 0 0,0-2 0 0 0,-1 0 0 0 0,-1-1 0 0 0,5-5 0 0 0,1-2 0 0 0,0 1 0 0 0,3-3 0 0 0,1-1 0 0 0,2-2 0 0 0,0 0 0 0 0,2-2 0 0 0,-1 1 0 0 0,7 3 0 0 0,8 3 0 0 0,5 8 0 0 0,5 3 0 0 0,1 5 0 0 0,4 2 0 0 0,-2 3 0 0 0,1 0 0 0 0,4-4 0 0 0,2-2 0 0 0,2-3 0 0 0,3-3 0 0 0,0-1 0 0 0,1-1 0 0 0,0 0 0 0 0,1-1 0 0 0,-1 0 0 0 0,-4-4 0 0 0,-2-1 0 0 0,0 0 0 0 0,1 1 0 0 0,1 2 0 0 0,2 1 0 0 0,1 1 0 0 0,0-4 0 0 0,1-1 0 0 0,0 0 0 0 0,0 2 0 0 0,0 1 0 0 0,0 1 0 0 0,-9 1 0 0 0,-13 1 0 0 0,-10 0 0 0 0,-11 0 0 0 0,-6 0 0 0 0,-4 0 0 0 0,-2 1 0 0 0,-1-1 0 0 0,0 4 0 0 0,0 2 0 0 0,1 0 0 0 0,0-1 0 0 0,1-2 0 0 0,0-1 0 0 0,0-1 0 0 0,0 0 0 0 0,0-1 0 0 0,1 0 0 0 0,-1-1 0 0 0,0 1 0 0 0,1 0 0 0 0,-1-5 0 0 0,0-1 0 0 0,5-4 0 0 0,10-1 0 0 0,8-3 0 0 0,8 2 0 0 0,9 1 0 0 0,7 4 0 0 0,3 3 0 0 0,4 1 0 0 0,1 3 0 0 0,1 0 0 0 0,-1 0 0 0 0,0 1 0 0 0,0-1 0 0 0,-1 1 0 0 0,0-1 0 0 0,0 0 0 0 0,0 0 0 0 0,0 0 0 0 0,0 0 0 0 0,-1 0 0 0 0,-3 5 0 0 0,-12 1 0 0 0,-7 4 0 0 0,-8 1 0 0 0,-9 3 0 0 0,-6-2 0 0 0,-5-1 0 0 0,-3-4 0 0 0,4 2 0 0 0,0-1 0 0 0,1-1 0 0 0,-2-3 0 0 0,0-1 0 0 0,-2-1 0 0 0,0-2 0 0 0,0 0 0 0 0,-1 0 0 0 0,0-1 0 0 0,0 1 0 0 0,0 0 0 0 0,0 0 0 0 0,0-1 0 0 0,0 1 0 0 0,10 0 0 0 0,11 0 0 0 0,12 0 0 0 0,9 0 0 0 0,3-4 0 0 0,2-2 0 0 0,2 0 0 0 0,3 1 0 0 0,1 2 0 0 0,-4-4 0 0 0,-1 0 0 0 0,5 1 0 0 0,3 1 0 0 0,0 2 0 0 0,1 1 0 0 0,-1 2 0 0 0,0-1 0 0 0,-1 2 0 0 0,-1-1 0 0 0,0 0 0 0 0,0 0 0 0 0,0 1 0 0 0,-1-1 0 0 0,1 0 0 0 0,0 0 0 0 0,-5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1T04:37:35.4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18744 11404 16383 0 0,'5'0'0'0'0,"6"0"0"0"0,0-4 0 0 0,4-2 0 0 0,4 0 0 0 0,-2-3 0 0 0,-8-1 0 0 0,-10 2 0 0 0,-9 3 0 0 0,-4 5 0 0 0,-3 4 0 0 0,1 6 0 0 0,-2 0 0 0 0,-1 0 0 0 0,1 1 0 0 0,0 0 0 0 0,3 2 0 0 0,-1-1 0 0 0,-1-2 0 0 0,1 1 0 0 0,-1-1 0 0 0,-2-2 0 0 0,-2-3 0 0 0,2 3 0 0 0,0 0 0 0 0,-2-2 0 0 0,-1-1 0 0 0,-2-2 0 0 0,-1-2 0 0 0,3 4 0 0 0,2 1 0 0 0,-2 0 0 0 0,0-2 0 0 0,-2-1 0 0 0,-1-1 0 0 0,-1-1 0 0 0,0-1 0 0 0,-1 0 0 0 0,0 0 0 0 0,0 0 0 0 0,0 0 0 0 0,0-1 0 0 0,0 1 0 0 0,0 0 0 0 0,0 0 0 0 0,0 0 0 0 0,1 0 0 0 0,-1 0 0 0 0,0 0 0 0 0,0 0 0 0 0,0 0 0 0 0,1 0 0 0 0,-1 0 0 0 0,5-4 0 0 0,5-2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customXml" Target="../ink/ink2.xml"/><Relationship Id="rId10" Type="http://schemas.openxmlformats.org/officeDocument/2006/relationships/image" Target="../media/image7.png"/><Relationship Id="rId4" Type="http://schemas.openxmlformats.org/officeDocument/2006/relationships/image" Target="../media/image40.png"/><Relationship Id="rId9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Braț</a:t>
            </a:r>
            <a:r>
              <a:rPr lang="en-US" dirty="0"/>
              <a:t> robotic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sortarea</a:t>
            </a:r>
            <a:r>
              <a:rPr lang="en-US" dirty="0"/>
              <a:t> </a:t>
            </a:r>
            <a:r>
              <a:rPr lang="en-US" dirty="0" err="1"/>
              <a:t>deșeurilor</a:t>
            </a:r>
            <a:r>
              <a:rPr lang="en-US" dirty="0"/>
              <a:t> </a:t>
            </a:r>
            <a:r>
              <a:rPr lang="en-US" dirty="0" err="1"/>
              <a:t>reciclabile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Student: CONDREA Laurențiu Daniel</a:t>
            </a:r>
          </a:p>
          <a:p>
            <a:r>
              <a:rPr lang="en-US" dirty="0" err="1"/>
              <a:t>Conducător</a:t>
            </a:r>
            <a:r>
              <a:rPr lang="en-US" dirty="0"/>
              <a:t> </a:t>
            </a:r>
            <a:r>
              <a:rPr lang="en-US" dirty="0" err="1"/>
              <a:t>Științific:Conf.dr.ing.COCIAȘ</a:t>
            </a:r>
            <a:r>
              <a:rPr lang="en-US" dirty="0"/>
              <a:t> Tiberiu Teodor</a:t>
            </a:r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0946A643-1B05-FAEE-6AFA-D5D05AEF6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" y="-3464"/>
            <a:ext cx="2990850" cy="1409700"/>
          </a:xfrm>
          <a:prstGeom prst="rect">
            <a:avLst/>
          </a:prstGeom>
        </p:spPr>
      </p:pic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508FB83-A558-90D5-3EC7-2B7E56E7E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575" y="241589"/>
            <a:ext cx="2990850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B2965C-C52D-EDF6-7830-E9E735886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/>
              <a:t>Scop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183DF-62D0-8941-27E7-5FB3C83E0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 err="1">
                <a:ea typeface="+mn-lt"/>
                <a:cs typeface="+mn-lt"/>
              </a:rPr>
              <a:t>Acest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proiect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propune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realizarea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unui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b="1" dirty="0" err="1">
                <a:ea typeface="+mn-lt"/>
                <a:cs typeface="+mn-lt"/>
              </a:rPr>
              <a:t>braț</a:t>
            </a:r>
            <a:r>
              <a:rPr lang="en-US" sz="1700" b="1" dirty="0">
                <a:ea typeface="+mn-lt"/>
                <a:cs typeface="+mn-lt"/>
              </a:rPr>
              <a:t> robotic </a:t>
            </a:r>
            <a:r>
              <a:rPr lang="en-US" sz="1700" b="1" dirty="0" err="1">
                <a:ea typeface="+mn-lt"/>
                <a:cs typeface="+mn-lt"/>
              </a:rPr>
              <a:t>montat</a:t>
            </a:r>
            <a:r>
              <a:rPr lang="en-US" sz="1700" b="1" dirty="0">
                <a:ea typeface="+mn-lt"/>
                <a:cs typeface="+mn-lt"/>
              </a:rPr>
              <a:t> pe un </a:t>
            </a:r>
            <a:r>
              <a:rPr lang="en-US" sz="1700" b="1" dirty="0" err="1">
                <a:ea typeface="+mn-lt"/>
                <a:cs typeface="+mn-lt"/>
              </a:rPr>
              <a:t>șasiu</a:t>
            </a:r>
            <a:r>
              <a:rPr lang="en-US" sz="1700" b="1" dirty="0">
                <a:ea typeface="+mn-lt"/>
                <a:cs typeface="+mn-lt"/>
              </a:rPr>
              <a:t> </a:t>
            </a:r>
            <a:r>
              <a:rPr lang="en-US" sz="1700" b="1" dirty="0" err="1">
                <a:ea typeface="+mn-lt"/>
                <a:cs typeface="+mn-lt"/>
              </a:rPr>
              <a:t>mobil</a:t>
            </a:r>
            <a:r>
              <a:rPr lang="en-US" sz="1700" dirty="0">
                <a:ea typeface="+mn-lt"/>
                <a:cs typeface="+mn-lt"/>
              </a:rPr>
              <a:t>, </a:t>
            </a:r>
            <a:r>
              <a:rPr lang="en-US" sz="1700" dirty="0" err="1">
                <a:ea typeface="+mn-lt"/>
                <a:cs typeface="+mn-lt"/>
              </a:rPr>
              <a:t>capabil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să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b="1" dirty="0" err="1">
                <a:ea typeface="+mn-lt"/>
                <a:cs typeface="+mn-lt"/>
              </a:rPr>
              <a:t>detecteze</a:t>
            </a:r>
            <a:r>
              <a:rPr lang="en-US" sz="1700" b="1" dirty="0">
                <a:ea typeface="+mn-lt"/>
                <a:cs typeface="+mn-lt"/>
              </a:rPr>
              <a:t> </a:t>
            </a:r>
            <a:r>
              <a:rPr lang="en-US" sz="1700" b="1" dirty="0" err="1">
                <a:ea typeface="+mn-lt"/>
                <a:cs typeface="+mn-lt"/>
              </a:rPr>
              <a:t>și</a:t>
            </a:r>
            <a:r>
              <a:rPr lang="en-US" sz="1700" b="1" dirty="0">
                <a:ea typeface="+mn-lt"/>
                <a:cs typeface="+mn-lt"/>
              </a:rPr>
              <a:t> </a:t>
            </a:r>
            <a:r>
              <a:rPr lang="en-US" sz="1700" b="1" dirty="0" err="1">
                <a:ea typeface="+mn-lt"/>
                <a:cs typeface="+mn-lt"/>
              </a:rPr>
              <a:t>să</a:t>
            </a:r>
            <a:r>
              <a:rPr lang="en-US" sz="1700" b="1" dirty="0">
                <a:ea typeface="+mn-lt"/>
                <a:cs typeface="+mn-lt"/>
              </a:rPr>
              <a:t> </a:t>
            </a:r>
            <a:r>
              <a:rPr lang="en-US" sz="1700" b="1" dirty="0" err="1">
                <a:ea typeface="+mn-lt"/>
                <a:cs typeface="+mn-lt"/>
              </a:rPr>
              <a:t>sorteze</a:t>
            </a:r>
            <a:r>
              <a:rPr lang="en-US" sz="1700" b="1" dirty="0">
                <a:ea typeface="+mn-lt"/>
                <a:cs typeface="+mn-lt"/>
              </a:rPr>
              <a:t> automat </a:t>
            </a:r>
            <a:r>
              <a:rPr lang="en-US" sz="1700" b="1" dirty="0" err="1">
                <a:ea typeface="+mn-lt"/>
                <a:cs typeface="+mn-lt"/>
              </a:rPr>
              <a:t>deșeurile</a:t>
            </a:r>
            <a:r>
              <a:rPr lang="en-US" sz="1700" b="1" dirty="0">
                <a:ea typeface="+mn-lt"/>
                <a:cs typeface="+mn-lt"/>
              </a:rPr>
              <a:t> </a:t>
            </a:r>
            <a:r>
              <a:rPr lang="en-US" sz="1700" b="1" dirty="0" err="1">
                <a:ea typeface="+mn-lt"/>
                <a:cs typeface="+mn-lt"/>
              </a:rPr>
              <a:t>reciclabile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în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funcție</a:t>
            </a:r>
            <a:r>
              <a:rPr lang="en-US" sz="1700" dirty="0">
                <a:ea typeface="+mn-lt"/>
                <a:cs typeface="+mn-lt"/>
              </a:rPr>
              <a:t> de </a:t>
            </a:r>
            <a:r>
              <a:rPr lang="en-US" sz="1700" dirty="0" err="1">
                <a:ea typeface="+mn-lt"/>
                <a:cs typeface="+mn-lt"/>
              </a:rPr>
              <a:t>tipul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materialului</a:t>
            </a:r>
            <a:r>
              <a:rPr lang="en-US" sz="1700" dirty="0">
                <a:ea typeface="+mn-lt"/>
                <a:cs typeface="+mn-lt"/>
              </a:rPr>
              <a:t>: plastic, </a:t>
            </a:r>
            <a:r>
              <a:rPr lang="en-US" sz="1700" dirty="0" err="1">
                <a:ea typeface="+mn-lt"/>
                <a:cs typeface="+mn-lt"/>
              </a:rPr>
              <a:t>aluminiu</a:t>
            </a:r>
            <a:r>
              <a:rPr lang="en-US" sz="1700" dirty="0">
                <a:ea typeface="+mn-lt"/>
                <a:cs typeface="+mn-lt"/>
              </a:rPr>
              <a:t>, </a:t>
            </a:r>
            <a:r>
              <a:rPr lang="en-US" sz="1700" dirty="0" err="1">
                <a:ea typeface="+mn-lt"/>
                <a:cs typeface="+mn-lt"/>
              </a:rPr>
              <a:t>sticlă</a:t>
            </a:r>
            <a:r>
              <a:rPr lang="en-US" sz="1700" dirty="0">
                <a:ea typeface="+mn-lt"/>
                <a:cs typeface="+mn-lt"/>
              </a:rPr>
              <a:t>, carton.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 err="1">
                <a:ea typeface="+mn-lt"/>
                <a:cs typeface="+mn-lt"/>
              </a:rPr>
              <a:t>Scopul</a:t>
            </a:r>
            <a:r>
              <a:rPr lang="en-US" sz="1700" b="1" dirty="0">
                <a:ea typeface="+mn-lt"/>
                <a:cs typeface="+mn-lt"/>
              </a:rPr>
              <a:t> principal al </a:t>
            </a:r>
            <a:r>
              <a:rPr lang="en-US" sz="1700" b="1" dirty="0" err="1">
                <a:ea typeface="+mn-lt"/>
                <a:cs typeface="+mn-lt"/>
              </a:rPr>
              <a:t>proiectului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este</a:t>
            </a:r>
            <a:r>
              <a:rPr lang="en-US" sz="1700" dirty="0">
                <a:ea typeface="+mn-lt"/>
                <a:cs typeface="+mn-lt"/>
              </a:rPr>
              <a:t>:</a:t>
            </a:r>
            <a:endParaRPr lang="en-US" sz="1700" dirty="0"/>
          </a:p>
          <a:p>
            <a:r>
              <a:rPr lang="en-US" sz="1700" dirty="0" err="1">
                <a:ea typeface="+mn-lt"/>
                <a:cs typeface="+mn-lt"/>
              </a:rPr>
              <a:t>Automatizarea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procesului</a:t>
            </a:r>
            <a:r>
              <a:rPr lang="en-US" sz="1700" dirty="0">
                <a:ea typeface="+mn-lt"/>
                <a:cs typeface="+mn-lt"/>
              </a:rPr>
              <a:t> de </a:t>
            </a:r>
            <a:r>
              <a:rPr lang="en-US" sz="1700" dirty="0" err="1">
                <a:ea typeface="+mn-lt"/>
                <a:cs typeface="+mn-lt"/>
              </a:rPr>
              <a:t>sortare</a:t>
            </a:r>
            <a:r>
              <a:rPr lang="en-US" sz="1700" dirty="0">
                <a:ea typeface="+mn-lt"/>
                <a:cs typeface="+mn-lt"/>
              </a:rPr>
              <a:t> a </a:t>
            </a:r>
            <a:r>
              <a:rPr lang="en-US" sz="1700" dirty="0" err="1">
                <a:ea typeface="+mn-lt"/>
                <a:cs typeface="+mn-lt"/>
              </a:rPr>
              <a:t>deșeurilor</a:t>
            </a:r>
            <a:endParaRPr lang="en-US" sz="1700" dirty="0" err="1"/>
          </a:p>
          <a:p>
            <a:r>
              <a:rPr lang="en-US" sz="1700" dirty="0" err="1">
                <a:ea typeface="+mn-lt"/>
                <a:cs typeface="+mn-lt"/>
              </a:rPr>
              <a:t>Creșterea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eficienței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în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reciclare</a:t>
            </a:r>
            <a:endParaRPr lang="en-US" sz="1700" dirty="0" err="1"/>
          </a:p>
          <a:p>
            <a:r>
              <a:rPr lang="en-US" sz="1700" dirty="0" err="1">
                <a:ea typeface="+mn-lt"/>
                <a:cs typeface="+mn-lt"/>
              </a:rPr>
              <a:t>Reducerea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implicării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umane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în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medii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potențial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insalubre</a:t>
            </a:r>
            <a:endParaRPr lang="en-US" sz="1700" dirty="0" err="1"/>
          </a:p>
          <a:p>
            <a:r>
              <a:rPr lang="en-US" sz="1700" dirty="0" err="1">
                <a:ea typeface="+mn-lt"/>
                <a:cs typeface="+mn-lt"/>
              </a:rPr>
              <a:t>Contribuția</a:t>
            </a:r>
            <a:r>
              <a:rPr lang="en-US" sz="1700" dirty="0">
                <a:ea typeface="+mn-lt"/>
                <a:cs typeface="+mn-lt"/>
              </a:rPr>
              <a:t> la un </a:t>
            </a:r>
            <a:r>
              <a:rPr lang="en-US" sz="1700" dirty="0" err="1">
                <a:ea typeface="+mn-lt"/>
                <a:cs typeface="+mn-lt"/>
              </a:rPr>
              <a:t>sistem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sustenabil</a:t>
            </a:r>
            <a:r>
              <a:rPr lang="en-US" sz="1700" dirty="0">
                <a:ea typeface="+mn-lt"/>
                <a:cs typeface="+mn-lt"/>
              </a:rPr>
              <a:t> de </a:t>
            </a:r>
            <a:r>
              <a:rPr lang="en-US" sz="1700" dirty="0" err="1">
                <a:ea typeface="+mn-lt"/>
                <a:cs typeface="+mn-lt"/>
              </a:rPr>
              <a:t>gestionare</a:t>
            </a:r>
            <a:r>
              <a:rPr lang="en-US" sz="1700" dirty="0">
                <a:ea typeface="+mn-lt"/>
                <a:cs typeface="+mn-lt"/>
              </a:rPr>
              <a:t> a </a:t>
            </a:r>
            <a:r>
              <a:rPr lang="en-US" sz="1700" dirty="0" err="1">
                <a:ea typeface="+mn-lt"/>
                <a:cs typeface="+mn-lt"/>
              </a:rPr>
              <a:t>deșeurilor</a:t>
            </a:r>
            <a:endParaRPr lang="en-US" sz="1700" dirty="0" err="1"/>
          </a:p>
          <a:p>
            <a:endParaRPr lang="en-US" sz="1700"/>
          </a:p>
        </p:txBody>
      </p:sp>
      <p:pic>
        <p:nvPicPr>
          <p:cNvPr id="4" name="Picture 3" descr="Two construction vehicles in a landfill&#10;&#10;AI-generated content may be incorrect.">
            <a:extLst>
              <a:ext uri="{FF2B5EF4-FFF2-40B4-BE49-F238E27FC236}">
                <a16:creationId xmlns:a16="http://schemas.microsoft.com/office/drawing/2014/main" id="{14DF49EE-4B92-FE5B-EEB1-49B1EDB663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0" r="29293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07807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0A856-AB2E-E4A4-2992-DB9776DAC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Componente folosite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9EAE0F8-09CF-D59F-1B1E-4921E47AA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 lnSpcReduction="10000"/>
          </a:bodyPr>
          <a:lstStyle/>
          <a:p>
            <a:r>
              <a:rPr lang="en-US" sz="2000" dirty="0" err="1"/>
              <a:t>Sursă</a:t>
            </a:r>
            <a:r>
              <a:rPr lang="en-US" sz="2000" dirty="0"/>
              <a:t> 5V 20A</a:t>
            </a:r>
          </a:p>
          <a:p>
            <a:r>
              <a:rPr lang="en-US" sz="2000" dirty="0"/>
              <a:t>Placa PCA9685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controlul</a:t>
            </a:r>
            <a:r>
              <a:rPr lang="en-US" sz="2000" dirty="0"/>
              <a:t> </a:t>
            </a:r>
            <a:r>
              <a:rPr lang="en-US" sz="2000" dirty="0" err="1"/>
              <a:t>servomotoarelor</a:t>
            </a:r>
            <a:r>
              <a:rPr lang="en-US" sz="2000" dirty="0"/>
              <a:t> </a:t>
            </a:r>
            <a:r>
              <a:rPr lang="en-US" sz="2000" dirty="0" err="1"/>
              <a:t>brațului</a:t>
            </a:r>
            <a:endParaRPr lang="en-US" sz="2000" dirty="0"/>
          </a:p>
          <a:p>
            <a:r>
              <a:rPr lang="en-US" sz="2000" dirty="0" err="1"/>
              <a:t>Unitate</a:t>
            </a:r>
            <a:r>
              <a:rPr lang="en-US" sz="2000" dirty="0"/>
              <a:t> </a:t>
            </a:r>
            <a:r>
              <a:rPr lang="en-US" sz="2000" dirty="0" err="1"/>
              <a:t>centrală</a:t>
            </a:r>
            <a:r>
              <a:rPr lang="en-US" sz="2000" dirty="0"/>
              <a:t> - raspberry pi 5</a:t>
            </a:r>
          </a:p>
          <a:p>
            <a:r>
              <a:rPr lang="en-US" sz="2000" dirty="0" err="1"/>
              <a:t>Cameră</a:t>
            </a:r>
            <a:r>
              <a:rPr lang="en-US" sz="2000" dirty="0"/>
              <a:t> web Canyon</a:t>
            </a:r>
          </a:p>
          <a:p>
            <a:r>
              <a:rPr lang="en-US" sz="2000" dirty="0" err="1"/>
              <a:t>Șasiu</a:t>
            </a:r>
            <a:r>
              <a:rPr lang="en-US" sz="2000" dirty="0"/>
              <a:t> tip tank cu 2 </a:t>
            </a:r>
            <a:r>
              <a:rPr lang="en-US" sz="2000" dirty="0" err="1"/>
              <a:t>motoare</a:t>
            </a:r>
            <a:r>
              <a:rPr lang="en-US" sz="2000" dirty="0"/>
              <a:t> DC cu driver L9110</a:t>
            </a:r>
          </a:p>
          <a:p>
            <a:r>
              <a:rPr lang="en-US" sz="2000" dirty="0" err="1"/>
              <a:t>Braț</a:t>
            </a:r>
            <a:r>
              <a:rPr lang="en-US" sz="2000" dirty="0"/>
              <a:t> robotic cu 6 </a:t>
            </a:r>
            <a:r>
              <a:rPr lang="en-US" sz="2000" dirty="0" err="1"/>
              <a:t>servomotoare</a:t>
            </a:r>
            <a:r>
              <a:rPr lang="en-US" sz="2000" dirty="0"/>
              <a:t> MG996R</a:t>
            </a:r>
          </a:p>
          <a:p>
            <a:endParaRPr lang="en-US" sz="2000" dirty="0"/>
          </a:p>
        </p:txBody>
      </p:sp>
      <p:pic>
        <p:nvPicPr>
          <p:cNvPr id="4" name="Content Placeholder 3" descr="A machine with wires and wires&#10;&#10;AI-generated content may be incorrect.">
            <a:extLst>
              <a:ext uri="{FF2B5EF4-FFF2-40B4-BE49-F238E27FC236}">
                <a16:creationId xmlns:a16="http://schemas.microsoft.com/office/drawing/2014/main" id="{DB24B4AD-BFF5-8C30-B76E-9396A17AF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1037649"/>
            <a:ext cx="6389346" cy="479201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C434A74-F719-D3DA-C980-3EBCAF75F10D}"/>
              </a:ext>
            </a:extLst>
          </p:cNvPr>
          <p:cNvSpPr txBox="1"/>
          <p:nvPr/>
        </p:nvSpPr>
        <p:spPr>
          <a:xfrm>
            <a:off x="6257712" y="5837595"/>
            <a:ext cx="38396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Figura 1 </a:t>
            </a:r>
            <a:r>
              <a:rPr lang="en-US" dirty="0" err="1"/>
              <a:t>Componentele</a:t>
            </a:r>
            <a:r>
              <a:rPr lang="en-US" dirty="0"/>
              <a:t> </a:t>
            </a:r>
            <a:r>
              <a:rPr lang="en-US" dirty="0" err="1"/>
              <a:t>sistemului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382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1A736-D2D3-EDAC-6685-307643D50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Arhitectură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5343D-FB0E-2798-E44E-A976C8026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A5C2B8-8BB6-AF81-6F83-7B83587DF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682" y="0"/>
            <a:ext cx="4576637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E6E743-4188-C5F6-CB6E-FDA826BB2441}"/>
              </a:ext>
            </a:extLst>
          </p:cNvPr>
          <p:cNvSpPr txBox="1"/>
          <p:nvPr/>
        </p:nvSpPr>
        <p:spPr>
          <a:xfrm>
            <a:off x="8383786" y="2911891"/>
            <a:ext cx="158187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Figura 2  </a:t>
            </a:r>
            <a:r>
              <a:rPr lang="en-US" dirty="0" err="1"/>
              <a:t>Arhitectura</a:t>
            </a:r>
            <a:r>
              <a:rPr lang="en-US" dirty="0"/>
              <a:t> </a:t>
            </a:r>
            <a:r>
              <a:rPr lang="en-US" dirty="0" err="1"/>
              <a:t>sistemului</a:t>
            </a:r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6F23B85-0EFF-6F43-559A-0013DDEA77FC}"/>
                  </a:ext>
                </a:extLst>
              </p14:cNvPr>
              <p14:cNvContentPartPr/>
              <p14:nvPr/>
            </p14:nvContentPartPr>
            <p14:xfrm>
              <a:off x="6042618" y="3274569"/>
              <a:ext cx="544151" cy="139005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6F23B85-0EFF-6F43-559A-0013DDEA77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24635" y="3256610"/>
                <a:ext cx="579756" cy="1745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301B4B2-6BB2-3AE7-93CE-3570E34954A9}"/>
                  </a:ext>
                </a:extLst>
              </p14:cNvPr>
              <p14:cNvContentPartPr/>
              <p14:nvPr/>
            </p14:nvContentPartPr>
            <p14:xfrm>
              <a:off x="6064310" y="3319840"/>
              <a:ext cx="513912" cy="105312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301B4B2-6BB2-3AE7-93CE-3570E34954A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46328" y="3302288"/>
                <a:ext cx="549515" cy="1407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81D8D0D-9E1F-F4A9-9EAA-B359A11CA644}"/>
                  </a:ext>
                </a:extLst>
              </p14:cNvPr>
              <p14:cNvContentPartPr/>
              <p14:nvPr/>
            </p14:nvContentPartPr>
            <p14:xfrm>
              <a:off x="6036164" y="3337221"/>
              <a:ext cx="567600" cy="122951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81D8D0D-9E1F-F4A9-9EAA-B359A11CA64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18539" y="3319298"/>
                <a:ext cx="603210" cy="1584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F4A4E84-9359-B584-E5E6-B83E215F90B7}"/>
                  </a:ext>
                </a:extLst>
              </p14:cNvPr>
              <p14:cNvContentPartPr/>
              <p14:nvPr/>
            </p14:nvContentPartPr>
            <p14:xfrm>
              <a:off x="6168412" y="3300590"/>
              <a:ext cx="373605" cy="66141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F4A4E84-9359-B584-E5E6-B83E215F90B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50433" y="3283072"/>
                <a:ext cx="409204" cy="10153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1151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E3BF70-1069-5C5E-2E04-7E0ACE65F90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017" r="-1" b="31264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8455E5-B4CC-4796-4C53-2A32CD0CE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Aspecte Tehnice: Detecția materialelor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055DE-1FD7-BFA1-DE99-F3EC21C77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7059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8F9E3-DA1B-3281-B4D7-186A69E9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YOLOv8n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96E4EE-2EDD-1889-A946-F2EF5F8D56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A6C12D-578F-A405-4138-65DEAA9DE760}"/>
              </a:ext>
            </a:extLst>
          </p:cNvPr>
          <p:cNvSpPr txBox="1"/>
          <p:nvPr/>
        </p:nvSpPr>
        <p:spPr>
          <a:xfrm>
            <a:off x="4724400" y="618254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Figura 3 </a:t>
            </a:r>
            <a:r>
              <a:rPr lang="en-US" dirty="0" err="1"/>
              <a:t>Setul</a:t>
            </a:r>
            <a:r>
              <a:rPr lang="en-US" dirty="0"/>
              <a:t> de date</a:t>
            </a:r>
          </a:p>
        </p:txBody>
      </p:sp>
    </p:spTree>
    <p:extLst>
      <p:ext uri="{BB962C8B-B14F-4D97-AF65-F5344CB8AC3E}">
        <p14:creationId xmlns:p14="http://schemas.microsoft.com/office/powerpoint/2010/main" val="2268896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6FFB11-D074-826D-FEE1-CE935B5DA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 err="1"/>
              <a:t>Etichetarea</a:t>
            </a:r>
            <a:r>
              <a:rPr lang="en-US" sz="6600" dirty="0"/>
              <a:t> </a:t>
            </a:r>
            <a:r>
              <a:rPr lang="en-US" sz="6600" dirty="0" err="1"/>
              <a:t>pozelor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319119-8DEE-12FC-C942-C968DC0F9AC9}"/>
              </a:ext>
            </a:extLst>
          </p:cNvPr>
          <p:cNvSpPr txBox="1"/>
          <p:nvPr/>
        </p:nvSpPr>
        <p:spPr>
          <a:xfrm>
            <a:off x="4732497" y="6173617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Figura 4 </a:t>
            </a:r>
            <a:r>
              <a:rPr lang="en-US" dirty="0" err="1"/>
              <a:t>Etichetarea</a:t>
            </a:r>
            <a:r>
              <a:rPr lang="en-US" dirty="0"/>
              <a:t> </a:t>
            </a:r>
            <a:r>
              <a:rPr lang="en-US" dirty="0" err="1"/>
              <a:t>manuală</a:t>
            </a:r>
            <a:r>
              <a:rPr lang="en-US" dirty="0"/>
              <a:t> a </a:t>
            </a:r>
            <a:r>
              <a:rPr lang="en-US" dirty="0" err="1"/>
              <a:t>pozelor</a:t>
            </a:r>
            <a:endParaRPr lang="en-US" dirty="0"/>
          </a:p>
        </p:txBody>
      </p:sp>
      <p:pic>
        <p:nvPicPr>
          <p:cNvPr id="15" name="Content Placeholder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E492F1-F0B4-3BB5-4B2F-D7D1C8BC83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5370" y="1825625"/>
            <a:ext cx="89612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584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D813D1-BA6B-40B4-A101-04BB89445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A3DFA5-2D7B-4989-8ED7-8321EC114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678" y="0"/>
            <a:ext cx="11145980" cy="6870723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52D4B-30D4-F991-7D4B-359FB1AD3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6" y="900622"/>
            <a:ext cx="3629555" cy="1893524"/>
          </a:xfrm>
        </p:spPr>
        <p:txBody>
          <a:bodyPr anchor="b">
            <a:normAutofit/>
          </a:bodyPr>
          <a:lstStyle/>
          <a:p>
            <a:r>
              <a:rPr lang="en-US" sz="4800" dirty="0" err="1"/>
              <a:t>Antrenare</a:t>
            </a:r>
            <a:r>
              <a:rPr lang="en-US" sz="4800" dirty="0"/>
              <a:t> YOLOv8n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2D89A3E-359E-0113-E0BB-2692327A1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966" y="2965593"/>
            <a:ext cx="3629555" cy="29415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Aproximativ</a:t>
            </a:r>
            <a:r>
              <a:rPr lang="en-US" sz="1800" dirty="0"/>
              <a:t> 130 de </a:t>
            </a:r>
            <a:r>
              <a:rPr lang="en-US" sz="1800" dirty="0" err="1"/>
              <a:t>poze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fiecare</a:t>
            </a:r>
            <a:r>
              <a:rPr lang="en-US" sz="1800" dirty="0"/>
              <a:t> material.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0A47F7-273C-64FE-22BB-740E646D6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549" y="3427262"/>
            <a:ext cx="6320441" cy="3160221"/>
          </a:xfrm>
          <a:prstGeom prst="rect">
            <a:avLst/>
          </a:prstGeom>
        </p:spPr>
      </p:pic>
      <p:pic>
        <p:nvPicPr>
          <p:cNvPr id="4" name="Content Placeholder 3" descr="A group of graphs with numbers&#10;&#10;AI-generated content may be incorrect.">
            <a:extLst>
              <a:ext uri="{FF2B5EF4-FFF2-40B4-BE49-F238E27FC236}">
                <a16:creationId xmlns:a16="http://schemas.microsoft.com/office/drawing/2014/main" id="{F114C6D0-D5CC-AAED-67EF-0C99300DE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717" y="-1235"/>
            <a:ext cx="6320441" cy="31602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47EFB9-0ACD-7E01-8348-2B61BA7B5625}"/>
              </a:ext>
            </a:extLst>
          </p:cNvPr>
          <p:cNvSpPr txBox="1"/>
          <p:nvPr/>
        </p:nvSpPr>
        <p:spPr>
          <a:xfrm>
            <a:off x="6201363" y="3068696"/>
            <a:ext cx="42860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Figura 5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antrenare</a:t>
            </a:r>
            <a:r>
              <a:rPr lang="en-US" dirty="0"/>
              <a:t> 20 de </a:t>
            </a:r>
            <a:r>
              <a:rPr lang="en-US" dirty="0" err="1"/>
              <a:t>epoci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6784DF-6DF4-21F5-C478-E44DFDB4F173}"/>
              </a:ext>
            </a:extLst>
          </p:cNvPr>
          <p:cNvSpPr txBox="1"/>
          <p:nvPr/>
        </p:nvSpPr>
        <p:spPr>
          <a:xfrm>
            <a:off x="6201363" y="6502399"/>
            <a:ext cx="42860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Figura 6 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antrenare</a:t>
            </a:r>
            <a:r>
              <a:rPr lang="en-US" dirty="0"/>
              <a:t> 100 de </a:t>
            </a:r>
            <a:r>
              <a:rPr lang="en-US" dirty="0" err="1"/>
              <a:t>epoci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450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E0031-7F9B-402D-C54A-DF461A0E1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Rezultate</a:t>
            </a:r>
            <a:r>
              <a:rPr lang="en-US" dirty="0"/>
              <a:t> YOLOv8n</a:t>
            </a:r>
          </a:p>
        </p:txBody>
      </p:sp>
      <p:pic>
        <p:nvPicPr>
          <p:cNvPr id="4" name="Content Placeholder 3" descr="A hand holding a plastic bottle&#10;&#10;AI-generated content may be incorrect.">
            <a:extLst>
              <a:ext uri="{FF2B5EF4-FFF2-40B4-BE49-F238E27FC236}">
                <a16:creationId xmlns:a16="http://schemas.microsoft.com/office/drawing/2014/main" id="{7AA61292-3886-87EC-2EEB-4235370829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4262" y="2034381"/>
            <a:ext cx="4943475" cy="3933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A894DE-10B1-F3FA-1872-6B4BF677472E}"/>
              </a:ext>
            </a:extLst>
          </p:cNvPr>
          <p:cNvSpPr txBox="1"/>
          <p:nvPr/>
        </p:nvSpPr>
        <p:spPr>
          <a:xfrm>
            <a:off x="3952993" y="5966177"/>
            <a:ext cx="42860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Figura 7 </a:t>
            </a:r>
            <a:r>
              <a:rPr lang="en-US" dirty="0" err="1"/>
              <a:t>Detecție</a:t>
            </a:r>
            <a:r>
              <a:rPr lang="en-US" dirty="0"/>
              <a:t> PET</a:t>
            </a:r>
          </a:p>
        </p:txBody>
      </p:sp>
    </p:spTree>
    <p:extLst>
      <p:ext uri="{BB962C8B-B14F-4D97-AF65-F5344CB8AC3E}">
        <p14:creationId xmlns:p14="http://schemas.microsoft.com/office/powerpoint/2010/main" val="4283702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7CCA07-F088-9833-2484-0CE3F7F5D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Aspecte Tehnice: Detecția markerelor ArUco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72512-DBA9-C411-967F-A42941446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287" y="4121253"/>
            <a:ext cx="3125337" cy="113684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1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 descr="A group of black squares&#10;&#10;AI-generated content may be incorrect.">
            <a:extLst>
              <a:ext uri="{FF2B5EF4-FFF2-40B4-BE49-F238E27FC236}">
                <a16:creationId xmlns:a16="http://schemas.microsoft.com/office/drawing/2014/main" id="{E68BCC8B-2BF2-8F87-2F9E-912A13436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751" y="1523023"/>
            <a:ext cx="5708649" cy="378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19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BAC3-225C-FA03-FEC2-F28F37132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741391"/>
            <a:ext cx="2833324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Markere ArUco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73BB809-00C6-8CE0-0AE7-3A3D291BA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859" y="2533476"/>
            <a:ext cx="4092487" cy="3447832"/>
          </a:xfrm>
        </p:spPr>
        <p:txBody>
          <a:bodyPr anchor="t">
            <a:normAutofit fontScale="92500" lnSpcReduction="20000"/>
          </a:bodyPr>
          <a:lstStyle/>
          <a:p>
            <a:pPr algn="r">
              <a:buNone/>
            </a:pPr>
            <a:r>
              <a:rPr lang="ro" sz="2000" dirty="0" err="1">
                <a:latin typeface="Aptos"/>
              </a:rPr>
              <a:t>rvec,tvec</a:t>
            </a:r>
            <a:r>
              <a:rPr lang="ro" sz="2000" dirty="0">
                <a:latin typeface="Aptos"/>
              </a:rPr>
              <a:t>=cv2.aruco.estimatePoseSingleMarkers(</a:t>
            </a:r>
            <a:r>
              <a:rPr lang="ro" sz="2000" dirty="0" err="1">
                <a:latin typeface="Aptos"/>
              </a:rPr>
              <a:t>corners,markerLength,cameraMatrix,distCoeff</a:t>
            </a:r>
            <a:r>
              <a:rPr lang="ro" sz="2000" dirty="0">
                <a:latin typeface="Aptos"/>
              </a:rPr>
              <a:t>)  </a:t>
            </a:r>
            <a:endParaRPr lang="en-US" dirty="0">
              <a:latin typeface="Aptos"/>
            </a:endParaRPr>
          </a:p>
          <a:p>
            <a:pPr algn="just">
              <a:buNone/>
            </a:pPr>
            <a:r>
              <a:rPr lang="ro" sz="2000" dirty="0">
                <a:latin typeface="Aptos"/>
              </a:rPr>
              <a:t>unde:</a:t>
            </a:r>
            <a:endParaRPr lang="en-US">
              <a:latin typeface="Aptos"/>
            </a:endParaRPr>
          </a:p>
          <a:p>
            <a:pPr>
              <a:buFont typeface="Arial"/>
              <a:buChar char="•"/>
            </a:pPr>
            <a:r>
              <a:rPr lang="en-US" sz="1800" dirty="0" err="1">
                <a:latin typeface="Aptos"/>
                <a:ea typeface="+mn-lt"/>
                <a:cs typeface="+mn-lt"/>
              </a:rPr>
              <a:t>rvec</a:t>
            </a:r>
            <a:r>
              <a:rPr lang="en-US" sz="1800" dirty="0">
                <a:latin typeface="Aptos"/>
                <a:ea typeface="+mn-lt"/>
                <a:cs typeface="+mn-lt"/>
              </a:rPr>
              <a:t> – </a:t>
            </a:r>
            <a:r>
              <a:rPr lang="en-US" sz="1800" dirty="0" err="1">
                <a:latin typeface="Aptos"/>
                <a:ea typeface="+mn-lt"/>
                <a:cs typeface="+mn-lt"/>
              </a:rPr>
              <a:t>vectorul</a:t>
            </a:r>
            <a:r>
              <a:rPr lang="en-US" sz="1800" dirty="0">
                <a:latin typeface="Aptos"/>
                <a:ea typeface="+mn-lt"/>
                <a:cs typeface="+mn-lt"/>
              </a:rPr>
              <a:t> de </a:t>
            </a:r>
            <a:r>
              <a:rPr lang="en-US" sz="1800" dirty="0" err="1">
                <a:latin typeface="Aptos"/>
                <a:ea typeface="+mn-lt"/>
                <a:cs typeface="+mn-lt"/>
              </a:rPr>
              <a:t>rotație</a:t>
            </a:r>
            <a:r>
              <a:rPr lang="en-US" sz="1800" dirty="0">
                <a:latin typeface="Aptos"/>
                <a:ea typeface="+mn-lt"/>
                <a:cs typeface="+mn-lt"/>
              </a:rPr>
              <a:t> (care </a:t>
            </a:r>
            <a:r>
              <a:rPr lang="en-US" sz="1800" dirty="0" err="1">
                <a:latin typeface="Aptos"/>
                <a:ea typeface="+mn-lt"/>
                <a:cs typeface="+mn-lt"/>
              </a:rPr>
              <a:t>poate</a:t>
            </a:r>
            <a:r>
              <a:rPr lang="en-US" sz="1800" dirty="0">
                <a:latin typeface="Aptos"/>
                <a:ea typeface="+mn-lt"/>
                <a:cs typeface="+mn-lt"/>
              </a:rPr>
              <a:t> fi </a:t>
            </a:r>
            <a:r>
              <a:rPr lang="en-US" sz="1800" dirty="0" err="1">
                <a:latin typeface="Aptos"/>
                <a:ea typeface="+mn-lt"/>
                <a:cs typeface="+mn-lt"/>
              </a:rPr>
              <a:t>transformat</a:t>
            </a:r>
            <a:r>
              <a:rPr lang="en-US" sz="1800" dirty="0">
                <a:latin typeface="Aptos"/>
                <a:ea typeface="+mn-lt"/>
                <a:cs typeface="+mn-lt"/>
              </a:rPr>
              <a:t> </a:t>
            </a:r>
            <a:r>
              <a:rPr lang="en-US" sz="1800" dirty="0" err="1">
                <a:latin typeface="Aptos"/>
                <a:ea typeface="+mn-lt"/>
                <a:cs typeface="+mn-lt"/>
              </a:rPr>
              <a:t>într</a:t>
            </a:r>
            <a:r>
              <a:rPr lang="en-US" sz="1800" dirty="0">
                <a:latin typeface="Aptos"/>
                <a:ea typeface="+mn-lt"/>
                <a:cs typeface="+mn-lt"/>
              </a:rPr>
              <a:t>-o </a:t>
            </a:r>
            <a:r>
              <a:rPr lang="en-US" sz="1800" dirty="0" err="1">
                <a:latin typeface="Aptos"/>
                <a:ea typeface="+mn-lt"/>
                <a:cs typeface="+mn-lt"/>
              </a:rPr>
              <a:t>matrice</a:t>
            </a:r>
            <a:r>
              <a:rPr lang="en-US" sz="1800" dirty="0">
                <a:latin typeface="Aptos"/>
                <a:ea typeface="+mn-lt"/>
                <a:cs typeface="+mn-lt"/>
              </a:rPr>
              <a:t> de </a:t>
            </a:r>
            <a:r>
              <a:rPr lang="en-US" sz="1800" dirty="0" err="1">
                <a:latin typeface="Aptos"/>
                <a:ea typeface="+mn-lt"/>
                <a:cs typeface="+mn-lt"/>
              </a:rPr>
              <a:t>rotație</a:t>
            </a:r>
            <a:r>
              <a:rPr lang="en-US" sz="1800" dirty="0">
                <a:latin typeface="Aptos"/>
                <a:ea typeface="+mn-lt"/>
                <a:cs typeface="+mn-lt"/>
              </a:rPr>
              <a:t> </a:t>
            </a:r>
            <a:r>
              <a:rPr lang="en-US" sz="1800" i="1" dirty="0">
                <a:latin typeface="Aptos"/>
                <a:ea typeface="+mn-lt"/>
                <a:cs typeface="+mn-lt"/>
              </a:rPr>
              <a:t>R</a:t>
            </a:r>
            <a:r>
              <a:rPr lang="en-US" sz="1800" dirty="0">
                <a:latin typeface="Aptos"/>
                <a:ea typeface="+mn-lt"/>
                <a:cs typeface="+mn-lt"/>
              </a:rPr>
              <a:t>);</a:t>
            </a:r>
            <a:endParaRPr lang="en-US" sz="1800">
              <a:latin typeface="Aptos"/>
            </a:endParaRPr>
          </a:p>
          <a:p>
            <a:pPr>
              <a:buFont typeface="Arial"/>
              <a:buChar char="•"/>
            </a:pPr>
            <a:r>
              <a:rPr lang="en-US" sz="1800" err="1">
                <a:latin typeface="Aptos"/>
                <a:ea typeface="+mn-lt"/>
                <a:cs typeface="+mn-lt"/>
              </a:rPr>
              <a:t>tvec</a:t>
            </a:r>
            <a:r>
              <a:rPr lang="en-US" sz="1800" dirty="0">
                <a:latin typeface="Aptos"/>
                <a:ea typeface="+mn-lt"/>
                <a:cs typeface="+mn-lt"/>
              </a:rPr>
              <a:t> – </a:t>
            </a:r>
            <a:r>
              <a:rPr lang="en-US" sz="1800" err="1">
                <a:latin typeface="Aptos"/>
                <a:ea typeface="+mn-lt"/>
                <a:cs typeface="+mn-lt"/>
              </a:rPr>
              <a:t>vectorul</a:t>
            </a:r>
            <a:r>
              <a:rPr lang="en-US" sz="1800" dirty="0">
                <a:latin typeface="Aptos"/>
                <a:ea typeface="+mn-lt"/>
                <a:cs typeface="+mn-lt"/>
              </a:rPr>
              <a:t> de </a:t>
            </a:r>
            <a:r>
              <a:rPr lang="en-US" sz="1800" err="1">
                <a:latin typeface="Aptos"/>
                <a:ea typeface="+mn-lt"/>
                <a:cs typeface="+mn-lt"/>
              </a:rPr>
              <a:t>translație</a:t>
            </a:r>
            <a:r>
              <a:rPr lang="en-US" sz="1800" dirty="0">
                <a:latin typeface="Aptos"/>
                <a:ea typeface="+mn-lt"/>
                <a:cs typeface="+mn-lt"/>
              </a:rPr>
              <a:t>, </a:t>
            </a:r>
            <a:r>
              <a:rPr lang="en-US" sz="1800" err="1">
                <a:latin typeface="Aptos"/>
                <a:ea typeface="+mn-lt"/>
                <a:cs typeface="+mn-lt"/>
              </a:rPr>
              <a:t>ce</a:t>
            </a:r>
            <a:r>
              <a:rPr lang="en-US" sz="1800" dirty="0">
                <a:latin typeface="Aptos"/>
                <a:ea typeface="+mn-lt"/>
                <a:cs typeface="+mn-lt"/>
              </a:rPr>
              <a:t> </a:t>
            </a:r>
            <a:r>
              <a:rPr lang="en-US" sz="1800" err="1">
                <a:latin typeface="Aptos"/>
                <a:ea typeface="+mn-lt"/>
                <a:cs typeface="+mn-lt"/>
              </a:rPr>
              <a:t>indică</a:t>
            </a:r>
            <a:r>
              <a:rPr lang="en-US" sz="1800" dirty="0">
                <a:latin typeface="Aptos"/>
                <a:ea typeface="+mn-lt"/>
                <a:cs typeface="+mn-lt"/>
              </a:rPr>
              <a:t> </a:t>
            </a:r>
            <a:r>
              <a:rPr lang="en-US" sz="1800" err="1">
                <a:latin typeface="Aptos"/>
                <a:ea typeface="+mn-lt"/>
                <a:cs typeface="+mn-lt"/>
              </a:rPr>
              <a:t>poziția</a:t>
            </a:r>
            <a:r>
              <a:rPr lang="en-US" sz="1800" dirty="0">
                <a:latin typeface="Aptos"/>
                <a:ea typeface="+mn-lt"/>
                <a:cs typeface="+mn-lt"/>
              </a:rPr>
              <a:t> </a:t>
            </a:r>
            <a:r>
              <a:rPr lang="en-US" sz="1800" err="1">
                <a:latin typeface="Aptos"/>
                <a:ea typeface="+mn-lt"/>
                <a:cs typeface="+mn-lt"/>
              </a:rPr>
              <a:t>markerului</a:t>
            </a:r>
            <a:r>
              <a:rPr lang="en-US" sz="1800" dirty="0">
                <a:latin typeface="Aptos"/>
                <a:ea typeface="+mn-lt"/>
                <a:cs typeface="+mn-lt"/>
              </a:rPr>
              <a:t> </a:t>
            </a:r>
            <a:r>
              <a:rPr lang="en-US" sz="1800" err="1">
                <a:latin typeface="Aptos"/>
                <a:ea typeface="+mn-lt"/>
                <a:cs typeface="+mn-lt"/>
              </a:rPr>
              <a:t>față</a:t>
            </a:r>
            <a:r>
              <a:rPr lang="en-US" sz="1800" dirty="0">
                <a:latin typeface="Aptos"/>
                <a:ea typeface="+mn-lt"/>
                <a:cs typeface="+mn-lt"/>
              </a:rPr>
              <a:t> de </a:t>
            </a:r>
            <a:r>
              <a:rPr lang="en-US" sz="1800" err="1">
                <a:latin typeface="Aptos"/>
                <a:ea typeface="+mn-lt"/>
                <a:cs typeface="+mn-lt"/>
              </a:rPr>
              <a:t>cameră</a:t>
            </a:r>
            <a:r>
              <a:rPr lang="en-US" sz="1800" dirty="0">
                <a:latin typeface="Aptos"/>
                <a:ea typeface="+mn-lt"/>
                <a:cs typeface="+mn-lt"/>
              </a:rPr>
              <a:t>;</a:t>
            </a:r>
            <a:endParaRPr lang="en-US" sz="1800">
              <a:latin typeface="Aptos"/>
            </a:endParaRPr>
          </a:p>
          <a:p>
            <a:pPr>
              <a:buFont typeface="Arial"/>
              <a:buChar char="•"/>
            </a:pPr>
            <a:r>
              <a:rPr lang="en-US" sz="1800" err="1">
                <a:latin typeface="Aptos"/>
                <a:ea typeface="+mn-lt"/>
                <a:cs typeface="+mn-lt"/>
              </a:rPr>
              <a:t>cameraMatrix</a:t>
            </a:r>
            <a:r>
              <a:rPr lang="en-US" sz="1800" dirty="0">
                <a:latin typeface="Aptos"/>
                <a:ea typeface="+mn-lt"/>
                <a:cs typeface="+mn-lt"/>
              </a:rPr>
              <a:t> – </a:t>
            </a:r>
            <a:r>
              <a:rPr lang="en-US" sz="1800" err="1">
                <a:latin typeface="Aptos"/>
                <a:ea typeface="+mn-lt"/>
                <a:cs typeface="+mn-lt"/>
              </a:rPr>
              <a:t>matricea</a:t>
            </a:r>
            <a:r>
              <a:rPr lang="en-US" sz="1800" dirty="0">
                <a:latin typeface="Aptos"/>
                <a:ea typeface="+mn-lt"/>
                <a:cs typeface="+mn-lt"/>
              </a:rPr>
              <a:t> </a:t>
            </a:r>
            <a:r>
              <a:rPr lang="en-US" sz="1800" err="1">
                <a:latin typeface="Aptos"/>
                <a:ea typeface="+mn-lt"/>
                <a:cs typeface="+mn-lt"/>
              </a:rPr>
              <a:t>intrinsecă</a:t>
            </a:r>
            <a:r>
              <a:rPr lang="en-US" sz="1800" dirty="0">
                <a:latin typeface="Aptos"/>
                <a:ea typeface="+mn-lt"/>
                <a:cs typeface="+mn-lt"/>
              </a:rPr>
              <a:t> a </a:t>
            </a:r>
            <a:r>
              <a:rPr lang="en-US" sz="1800" err="1">
                <a:latin typeface="Aptos"/>
                <a:ea typeface="+mn-lt"/>
                <a:cs typeface="+mn-lt"/>
              </a:rPr>
              <a:t>camerei</a:t>
            </a:r>
            <a:r>
              <a:rPr lang="en-US" sz="1800" dirty="0">
                <a:latin typeface="Aptos"/>
                <a:ea typeface="+mn-lt"/>
                <a:cs typeface="+mn-lt"/>
              </a:rPr>
              <a:t> (</a:t>
            </a:r>
            <a:r>
              <a:rPr lang="en-US" sz="1800" err="1">
                <a:latin typeface="Aptos"/>
                <a:ea typeface="+mn-lt"/>
                <a:cs typeface="+mn-lt"/>
              </a:rPr>
              <a:t>obținută</a:t>
            </a:r>
            <a:r>
              <a:rPr lang="en-US" sz="1800" dirty="0">
                <a:latin typeface="Aptos"/>
                <a:ea typeface="+mn-lt"/>
                <a:cs typeface="+mn-lt"/>
              </a:rPr>
              <a:t> </a:t>
            </a:r>
            <a:r>
              <a:rPr lang="en-US" sz="1800" err="1">
                <a:latin typeface="Aptos"/>
                <a:ea typeface="+mn-lt"/>
                <a:cs typeface="+mn-lt"/>
              </a:rPr>
              <a:t>în</a:t>
            </a:r>
            <a:r>
              <a:rPr lang="en-US" sz="1800" dirty="0">
                <a:latin typeface="Aptos"/>
                <a:ea typeface="+mn-lt"/>
                <a:cs typeface="+mn-lt"/>
              </a:rPr>
              <a:t> </a:t>
            </a:r>
            <a:r>
              <a:rPr lang="en-US" sz="1800" err="1">
                <a:latin typeface="Aptos"/>
                <a:ea typeface="+mn-lt"/>
                <a:cs typeface="+mn-lt"/>
              </a:rPr>
              <a:t>urma</a:t>
            </a:r>
            <a:r>
              <a:rPr lang="en-US" sz="1800" dirty="0">
                <a:latin typeface="Aptos"/>
                <a:ea typeface="+mn-lt"/>
                <a:cs typeface="+mn-lt"/>
              </a:rPr>
              <a:t> </a:t>
            </a:r>
            <a:r>
              <a:rPr lang="en-US" sz="1800" err="1">
                <a:latin typeface="Aptos"/>
                <a:ea typeface="+mn-lt"/>
                <a:cs typeface="+mn-lt"/>
              </a:rPr>
              <a:t>procesului</a:t>
            </a:r>
            <a:r>
              <a:rPr lang="en-US" sz="1800" dirty="0">
                <a:latin typeface="Aptos"/>
                <a:ea typeface="+mn-lt"/>
                <a:cs typeface="+mn-lt"/>
              </a:rPr>
              <a:t> de </a:t>
            </a:r>
            <a:r>
              <a:rPr lang="en-US" sz="1800" err="1">
                <a:latin typeface="Aptos"/>
                <a:ea typeface="+mn-lt"/>
                <a:cs typeface="+mn-lt"/>
              </a:rPr>
              <a:t>calibrare</a:t>
            </a:r>
            <a:r>
              <a:rPr lang="en-US" sz="1800" dirty="0">
                <a:latin typeface="Aptos"/>
                <a:ea typeface="+mn-lt"/>
                <a:cs typeface="+mn-lt"/>
              </a:rPr>
              <a:t>);</a:t>
            </a:r>
            <a:endParaRPr lang="en-US" sz="1800">
              <a:latin typeface="Aptos"/>
            </a:endParaRPr>
          </a:p>
          <a:p>
            <a:pPr>
              <a:buFont typeface="Arial"/>
              <a:buChar char="•"/>
            </a:pPr>
            <a:r>
              <a:rPr lang="en-US" sz="1800" err="1">
                <a:latin typeface="Aptos"/>
                <a:ea typeface="+mn-lt"/>
                <a:cs typeface="+mn-lt"/>
              </a:rPr>
              <a:t>distCoeffs</a:t>
            </a:r>
            <a:r>
              <a:rPr lang="en-US" sz="1800" dirty="0">
                <a:latin typeface="Aptos"/>
                <a:ea typeface="+mn-lt"/>
                <a:cs typeface="+mn-lt"/>
              </a:rPr>
              <a:t> – </a:t>
            </a:r>
            <a:r>
              <a:rPr lang="en-US" sz="1800" err="1">
                <a:latin typeface="Aptos"/>
                <a:ea typeface="+mn-lt"/>
                <a:cs typeface="+mn-lt"/>
              </a:rPr>
              <a:t>coeficienții</a:t>
            </a:r>
            <a:r>
              <a:rPr lang="en-US" sz="1800" dirty="0">
                <a:latin typeface="Aptos"/>
                <a:ea typeface="+mn-lt"/>
                <a:cs typeface="+mn-lt"/>
              </a:rPr>
              <a:t> de </a:t>
            </a:r>
            <a:r>
              <a:rPr lang="en-US" sz="1800" err="1">
                <a:latin typeface="Aptos"/>
                <a:ea typeface="+mn-lt"/>
                <a:cs typeface="+mn-lt"/>
              </a:rPr>
              <a:t>distorsiune</a:t>
            </a:r>
            <a:r>
              <a:rPr lang="en-US" sz="1800" dirty="0">
                <a:latin typeface="Aptos"/>
                <a:ea typeface="+mn-lt"/>
                <a:cs typeface="+mn-lt"/>
              </a:rPr>
              <a:t> </a:t>
            </a:r>
            <a:r>
              <a:rPr lang="en-US" sz="1800" err="1">
                <a:latin typeface="Aptos"/>
                <a:ea typeface="+mn-lt"/>
                <a:cs typeface="+mn-lt"/>
              </a:rPr>
              <a:t>optică</a:t>
            </a:r>
            <a:r>
              <a:rPr lang="en-US" sz="1800" dirty="0">
                <a:latin typeface="Aptos"/>
                <a:ea typeface="+mn-lt"/>
                <a:cs typeface="+mn-lt"/>
              </a:rPr>
              <a:t>.</a:t>
            </a:r>
            <a:endParaRPr lang="en-US" sz="1800">
              <a:latin typeface="Aptos"/>
            </a:endParaRP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 descr="A hand holding a piece of paper with colorful dots and squares&#10;&#10;AI-generated content may be incorrect.">
            <a:extLst>
              <a:ext uri="{FF2B5EF4-FFF2-40B4-BE49-F238E27FC236}">
                <a16:creationId xmlns:a16="http://schemas.microsoft.com/office/drawing/2014/main" id="{00CE4AC3-A795-6609-0FCB-A06D4812DC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70" r="2672" b="-3"/>
          <a:stretch>
            <a:fillRect/>
          </a:stretch>
        </p:blipFill>
        <p:spPr>
          <a:xfrm>
            <a:off x="4285839" y="1070147"/>
            <a:ext cx="3393840" cy="4672927"/>
          </a:xfrm>
          <a:prstGeom prst="rect">
            <a:avLst/>
          </a:prstGeom>
        </p:spPr>
      </p:pic>
      <p:pic>
        <p:nvPicPr>
          <p:cNvPr id="4" name="Content Placeholder 3" descr="A black and white checkered flag&#10;&#10;AI-generated content may be incorrect.">
            <a:extLst>
              <a:ext uri="{FF2B5EF4-FFF2-40B4-BE49-F238E27FC236}">
                <a16:creationId xmlns:a16="http://schemas.microsoft.com/office/drawing/2014/main" id="{C8CF07CC-175A-3385-CF9A-B6FAF30E0E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727" r="24480" b="2"/>
          <a:stretch>
            <a:fillRect/>
          </a:stretch>
        </p:blipFill>
        <p:spPr>
          <a:xfrm>
            <a:off x="7679652" y="1070147"/>
            <a:ext cx="3439354" cy="467292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8E5CCC-C8B4-1C26-7EEC-22D3D6E6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640742" y="2309584"/>
            <a:ext cx="123362" cy="6833167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A4F2E6-C9E1-359F-FAB8-8E3432107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72516" y="4941359"/>
            <a:ext cx="123362" cy="1569619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853D2-CAD3-2392-1903-2A7A9CAEA95B}"/>
              </a:ext>
            </a:extLst>
          </p:cNvPr>
          <p:cNvSpPr txBox="1"/>
          <p:nvPr/>
        </p:nvSpPr>
        <p:spPr>
          <a:xfrm>
            <a:off x="6295437" y="5909733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Figura 8 </a:t>
            </a:r>
            <a:r>
              <a:rPr lang="en-US" dirty="0" err="1"/>
              <a:t>Calibrarea</a:t>
            </a:r>
            <a:r>
              <a:rPr lang="en-US" dirty="0"/>
              <a:t> </a:t>
            </a:r>
            <a:r>
              <a:rPr lang="en-US" dirty="0" err="1"/>
              <a:t>camerei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Zhang</a:t>
            </a:r>
          </a:p>
        </p:txBody>
      </p:sp>
    </p:spTree>
    <p:extLst>
      <p:ext uri="{BB962C8B-B14F-4D97-AF65-F5344CB8AC3E}">
        <p14:creationId xmlns:p14="http://schemas.microsoft.com/office/powerpoint/2010/main" val="1086786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22FFF-C6D5-A699-D2D8-F941CA787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741391"/>
            <a:ext cx="3549649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Rezultate calibrare</a:t>
            </a:r>
          </a:p>
        </p:txBody>
      </p:sp>
      <p:pic>
        <p:nvPicPr>
          <p:cNvPr id="4" name="Content Placeholder 3" descr="A screen shot of a paper&#10;&#10;AI-generated content may be incorrect.">
            <a:extLst>
              <a:ext uri="{FF2B5EF4-FFF2-40B4-BE49-F238E27FC236}">
                <a16:creationId xmlns:a16="http://schemas.microsoft.com/office/drawing/2014/main" id="{E9AF7105-3E25-154E-418F-8445C86082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9" r="2" b="2"/>
          <a:stretch>
            <a:fillRect/>
          </a:stretch>
        </p:blipFill>
        <p:spPr>
          <a:xfrm>
            <a:off x="5089243" y="877413"/>
            <a:ext cx="6222628" cy="504309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AFCAD34-1AFC-BC1A-F6B2-C34C6391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089243" y="5858828"/>
            <a:ext cx="6226463" cy="123363"/>
            <a:chOff x="7015162" y="5858828"/>
            <a:chExt cx="4300544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29F4A2-3705-CF87-3DDA-AF9CE9389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1B1028-FC76-5583-3A1F-5815A7DCF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F2082F2-66AA-E5B2-C797-2A6837F7ED1F}"/>
              </a:ext>
            </a:extLst>
          </p:cNvPr>
          <p:cNvSpPr txBox="1"/>
          <p:nvPr/>
        </p:nvSpPr>
        <p:spPr>
          <a:xfrm>
            <a:off x="6831659" y="591914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Figura 9 </a:t>
            </a:r>
            <a:r>
              <a:rPr lang="en-US" dirty="0" err="1"/>
              <a:t>Cameră</a:t>
            </a:r>
            <a:r>
              <a:rPr lang="en-US" dirty="0"/>
              <a:t> </a:t>
            </a:r>
            <a:r>
              <a:rPr lang="en-US" dirty="0" err="1"/>
              <a:t>calibrată</a:t>
            </a:r>
            <a:endParaRPr lang="en-US" dirty="0"/>
          </a:p>
        </p:txBody>
      </p:sp>
      <p:pic>
        <p:nvPicPr>
          <p:cNvPr id="23" name="Picture 22" descr="A group of black letters&#10;&#10;AI-generated content may be incorrect.">
            <a:extLst>
              <a:ext uri="{FF2B5EF4-FFF2-40B4-BE49-F238E27FC236}">
                <a16:creationId xmlns:a16="http://schemas.microsoft.com/office/drawing/2014/main" id="{0A4E9B69-3843-6E24-D20B-0A26A61A8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950" y="2974754"/>
            <a:ext cx="1724025" cy="90487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CFBA7AF-BAF6-BBB2-95BF-4399CE078293}"/>
              </a:ext>
            </a:extLst>
          </p:cNvPr>
          <p:cNvSpPr txBox="1"/>
          <p:nvPr/>
        </p:nvSpPr>
        <p:spPr>
          <a:xfrm>
            <a:off x="916329" y="2546429"/>
            <a:ext cx="31733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Matricea</a:t>
            </a:r>
            <a:r>
              <a:rPr lang="en-US" dirty="0"/>
              <a:t> </a:t>
            </a:r>
            <a:r>
              <a:rPr lang="en-US" dirty="0" err="1"/>
              <a:t>intrinsecă</a:t>
            </a:r>
            <a:r>
              <a:rPr lang="en-US" dirty="0"/>
              <a:t> a </a:t>
            </a:r>
            <a:r>
              <a:rPr lang="en-US" dirty="0" err="1"/>
              <a:t>camerei</a:t>
            </a:r>
            <a:r>
              <a:rPr lang="en-US" dirty="0"/>
              <a:t>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303FF6-06DA-8E35-ABA0-B1E7521ACE14}"/>
              </a:ext>
            </a:extLst>
          </p:cNvPr>
          <p:cNvSpPr txBox="1"/>
          <p:nvPr/>
        </p:nvSpPr>
        <p:spPr>
          <a:xfrm>
            <a:off x="507999" y="3922888"/>
            <a:ext cx="435562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err="1">
                <a:latin typeface="Aptos"/>
              </a:rPr>
              <a:t>Fx,fy</a:t>
            </a:r>
            <a:r>
              <a:rPr lang="en-US" dirty="0">
                <a:latin typeface="Aptos"/>
              </a:rPr>
              <a:t>: </a:t>
            </a:r>
            <a:r>
              <a:rPr lang="en-US" err="1">
                <a:latin typeface="Aptos"/>
              </a:rPr>
              <a:t>distanțele</a:t>
            </a:r>
            <a:r>
              <a:rPr lang="ro" dirty="0">
                <a:latin typeface="Aptos"/>
              </a:rPr>
              <a:t> focale exprimate în pixeli pe axele X si Y</a:t>
            </a:r>
            <a:endParaRPr lang="en-US">
              <a:latin typeface="Aptos"/>
            </a:endParaRPr>
          </a:p>
          <a:p>
            <a:pPr algn="just"/>
            <a:r>
              <a:rPr lang="en-US" err="1">
                <a:latin typeface="Aptos"/>
              </a:rPr>
              <a:t>Cx,cy</a:t>
            </a:r>
            <a:r>
              <a:rPr lang="en-US" dirty="0">
                <a:latin typeface="Aptos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latin typeface="Aptos"/>
              </a:rPr>
              <a:t>coordonatele</a:t>
            </a:r>
            <a:r>
              <a:rPr lang="en-US" dirty="0">
                <a:latin typeface="Aptos"/>
              </a:rPr>
              <a:t> </a:t>
            </a:r>
            <a:r>
              <a:rPr lang="en-US" err="1">
                <a:latin typeface="Aptos"/>
              </a:rPr>
              <a:t>punctului</a:t>
            </a:r>
            <a:r>
              <a:rPr lang="en-US" dirty="0">
                <a:latin typeface="Aptos"/>
              </a:rPr>
              <a:t> principal (</a:t>
            </a:r>
            <a:r>
              <a:rPr lang="en-US" err="1">
                <a:latin typeface="Aptos"/>
              </a:rPr>
              <a:t>centrul</a:t>
            </a:r>
            <a:r>
              <a:rPr lang="en-US" dirty="0">
                <a:latin typeface="Aptos"/>
              </a:rPr>
              <a:t> optic)</a:t>
            </a:r>
            <a:endParaRPr lang="en-US">
              <a:latin typeface="Aptos"/>
            </a:endParaRPr>
          </a:p>
          <a:p>
            <a:pPr algn="just"/>
            <a:r>
              <a:rPr lang="ro" dirty="0">
                <a:latin typeface="Aptos"/>
              </a:rPr>
              <a:t>factorul de </a:t>
            </a:r>
            <a:r>
              <a:rPr lang="ro" err="1">
                <a:latin typeface="Aptos"/>
              </a:rPr>
              <a:t>skew</a:t>
            </a:r>
            <a:r>
              <a:rPr lang="ro" dirty="0">
                <a:latin typeface="Aptos"/>
              </a:rPr>
              <a:t> (care descrie </a:t>
            </a:r>
            <a:r>
              <a:rPr lang="ro" err="1">
                <a:latin typeface="Aptos"/>
              </a:rPr>
              <a:t>neortogonalitatea</a:t>
            </a:r>
            <a:r>
              <a:rPr lang="ro" dirty="0">
                <a:latin typeface="Aptos"/>
              </a:rPr>
              <a:t> axelor X și Y ale imaginii)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683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90DDB7-6B5F-1224-FCD8-088E700DD8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30972" r="21473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AA593F-6E55-962D-4BE8-CB0EDC6FB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Aspecte Tehnice: Simulări în MATLAB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F2A19-151B-D62E-5498-2881952C1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780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34BCC6-39B9-47D9-8BF8-C665401A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of a graph&#10;&#10;AI-generated content may be incorrect.">
            <a:extLst>
              <a:ext uri="{FF2B5EF4-FFF2-40B4-BE49-F238E27FC236}">
                <a16:creationId xmlns:a16="http://schemas.microsoft.com/office/drawing/2014/main" id="{8B787AC0-3F5C-6353-8675-EC775661EA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41" b="-2"/>
          <a:stretch>
            <a:fillRect/>
          </a:stretch>
        </p:blipFill>
        <p:spPr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72A9CE9D-DAC3-40AF-B504-78A64A909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506D7452-6CDE-4381-86CE-07B245938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3A4A8E-F588-1A7A-7CE3-38B1AAA2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1524659"/>
            <a:ext cx="5019074" cy="27740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Configurație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2F2C19D4-00F6-6F1E-8C1F-949702850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406" y="3433443"/>
            <a:ext cx="4917948" cy="13350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kern="1200" dirty="0">
                <a:latin typeface="+mn-lt"/>
                <a:ea typeface="+mn-ea"/>
                <a:cs typeface="+mn-cs"/>
              </a:rPr>
              <a:t>Figura </a:t>
            </a:r>
            <a:r>
              <a:rPr lang="en-US" dirty="0"/>
              <a:t>10</a:t>
            </a:r>
            <a:r>
              <a:rPr lang="en-US" kern="1200" dirty="0">
                <a:latin typeface="+mn-lt"/>
                <a:ea typeface="+mn-ea"/>
                <a:cs typeface="+mn-cs"/>
              </a:rPr>
              <a:t> 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Configurație</a:t>
            </a:r>
            <a:r>
              <a:rPr lang="en-US" kern="1200" dirty="0"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braț</a:t>
            </a:r>
            <a:r>
              <a:rPr lang="en-US" kern="1200" dirty="0">
                <a:latin typeface="+mn-lt"/>
                <a:ea typeface="+mn-ea"/>
                <a:cs typeface="+mn-cs"/>
              </a:rPr>
              <a:t> robotic MATLAB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2DA937-8B55-4317-BD32-98D7AF30E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2EE5A8-045B-4D39-8ED1-51333408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461119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874CE1-91B5-F6BB-9EF3-8B342A1A17F1}"/>
              </a:ext>
            </a:extLst>
          </p:cNvPr>
          <p:cNvSpPr txBox="1"/>
          <p:nvPr/>
        </p:nvSpPr>
        <p:spPr>
          <a:xfrm>
            <a:off x="526815" y="4637852"/>
            <a:ext cx="440266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-5 </a:t>
            </a:r>
            <a:r>
              <a:rPr lang="en-US" dirty="0" err="1"/>
              <a:t>cuple</a:t>
            </a:r>
            <a:r>
              <a:rPr lang="en-US" dirty="0"/>
              <a:t> de </a:t>
            </a:r>
            <a:r>
              <a:rPr lang="en-US" dirty="0" err="1"/>
              <a:t>rotație</a:t>
            </a:r>
            <a:r>
              <a:rPr lang="en-US" dirty="0"/>
              <a:t> </a:t>
            </a:r>
            <a:r>
              <a:rPr lang="en-US" dirty="0" err="1"/>
              <a:t>incluse</a:t>
            </a:r>
            <a:r>
              <a:rPr lang="en-US" dirty="0"/>
              <a:t>(</a:t>
            </a:r>
            <a:r>
              <a:rPr lang="en-US" dirty="0" err="1"/>
              <a:t>Rz,Rx,Rx,Rx,Rz</a:t>
            </a:r>
            <a:r>
              <a:rPr lang="en-US" dirty="0"/>
              <a:t>), ultima </a:t>
            </a:r>
            <a:r>
              <a:rPr lang="en-US" dirty="0" err="1"/>
              <a:t>presupune</a:t>
            </a:r>
            <a:r>
              <a:rPr lang="en-US" dirty="0"/>
              <a:t> </a:t>
            </a:r>
            <a:r>
              <a:rPr lang="en-US" dirty="0" err="1"/>
              <a:t>închiderea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deschiderea</a:t>
            </a:r>
            <a:r>
              <a:rPr lang="en-US" dirty="0"/>
              <a:t> </a:t>
            </a:r>
            <a:r>
              <a:rPr lang="en-US" dirty="0" err="1"/>
              <a:t>prehensorului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nu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inclusă</a:t>
            </a:r>
            <a:r>
              <a:rPr lang="en-US" dirty="0"/>
              <a:t>.</a:t>
            </a:r>
            <a:endParaRPr lang="en-US"/>
          </a:p>
          <a:p>
            <a:r>
              <a:rPr lang="en-US" dirty="0"/>
              <a:t>-</a:t>
            </a:r>
            <a:r>
              <a:rPr lang="en-US" dirty="0" err="1"/>
              <a:t>Parametrii:nr.cuple</a:t>
            </a:r>
            <a:r>
              <a:rPr lang="en-US" dirty="0"/>
              <a:t>, </a:t>
            </a:r>
            <a:r>
              <a:rPr lang="en-US" dirty="0" err="1"/>
              <a:t>distanța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cuple</a:t>
            </a:r>
            <a:r>
              <a:rPr lang="en-US" dirty="0"/>
              <a:t>, </a:t>
            </a:r>
            <a:r>
              <a:rPr lang="en-US" dirty="0" err="1"/>
              <a:t>tipul</a:t>
            </a:r>
            <a:r>
              <a:rPr lang="en-US" dirty="0"/>
              <a:t> </a:t>
            </a:r>
            <a:r>
              <a:rPr lang="en-US" dirty="0" err="1"/>
              <a:t>cuplei</a:t>
            </a:r>
            <a:r>
              <a:rPr lang="en-US" dirty="0"/>
              <a:t>, </a:t>
            </a:r>
            <a:r>
              <a:rPr lang="en-US" dirty="0" err="1"/>
              <a:t>pozițiile</a:t>
            </a:r>
            <a:r>
              <a:rPr lang="en-US" dirty="0"/>
              <a:t> </a:t>
            </a:r>
            <a:r>
              <a:rPr lang="en-US" dirty="0" err="1"/>
              <a:t>unghiulare</a:t>
            </a:r>
            <a:r>
              <a:rPr lang="en-US" dirty="0"/>
              <a:t> ale </a:t>
            </a:r>
            <a:r>
              <a:rPr lang="en-US" dirty="0" err="1"/>
              <a:t>cuplelor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46338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E3BC78-9BFB-C99E-0036-81815B35F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Jacobian</a:t>
            </a:r>
          </a:p>
        </p:txBody>
      </p:sp>
      <p:pic>
        <p:nvPicPr>
          <p:cNvPr id="4" name="Content Placeholder 3" descr="A group of black text&#10;&#10;AI-generated content may be incorrect.">
            <a:extLst>
              <a:ext uri="{FF2B5EF4-FFF2-40B4-BE49-F238E27FC236}">
                <a16:creationId xmlns:a16="http://schemas.microsoft.com/office/drawing/2014/main" id="{F14DF59A-F3B1-F11A-5688-210478088A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955" y="683790"/>
            <a:ext cx="9875259" cy="22086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79C3C9-A9E2-A1E0-C481-090F78C95F72}"/>
              </a:ext>
            </a:extLst>
          </p:cNvPr>
          <p:cNvSpPr txBox="1"/>
          <p:nvPr/>
        </p:nvSpPr>
        <p:spPr>
          <a:xfrm>
            <a:off x="5630779" y="3884452"/>
            <a:ext cx="5723021" cy="239871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-</a:t>
            </a:r>
            <a:r>
              <a:rPr lang="en-US" sz="2000" err="1"/>
              <a:t>Derivata</a:t>
            </a:r>
            <a:r>
              <a:rPr lang="en-US" sz="2000" dirty="0"/>
              <a:t> </a:t>
            </a:r>
            <a:r>
              <a:rPr lang="en-US" sz="2000" err="1"/>
              <a:t>parțială</a:t>
            </a:r>
            <a:r>
              <a:rPr lang="en-US" sz="2000" dirty="0"/>
              <a:t> a </a:t>
            </a:r>
            <a:r>
              <a:rPr lang="en-US" sz="2000" err="1"/>
              <a:t>punctului</a:t>
            </a:r>
            <a:r>
              <a:rPr lang="en-US" sz="2000" dirty="0"/>
              <a:t> final </a:t>
            </a:r>
            <a:r>
              <a:rPr lang="en-US" sz="2000" err="1"/>
              <a:t>în</a:t>
            </a:r>
            <a:r>
              <a:rPr lang="en-US" sz="2000" dirty="0"/>
              <a:t> </a:t>
            </a:r>
            <a:r>
              <a:rPr lang="en-US" sz="2000" err="1"/>
              <a:t>funcție</a:t>
            </a:r>
            <a:r>
              <a:rPr lang="en-US" sz="2000" dirty="0"/>
              <a:t> de </a:t>
            </a:r>
            <a:r>
              <a:rPr lang="en-US" sz="2000" err="1"/>
              <a:t>fiecare</a:t>
            </a:r>
            <a:r>
              <a:rPr lang="en-US" sz="2000" dirty="0"/>
              <a:t> </a:t>
            </a:r>
            <a:r>
              <a:rPr lang="en-US" sz="2000" err="1"/>
              <a:t>cuplă</a:t>
            </a:r>
            <a:r>
              <a:rPr lang="en-US" sz="2000" dirty="0"/>
              <a:t> (</a:t>
            </a:r>
            <a:r>
              <a:rPr lang="en-US" sz="2000" err="1"/>
              <a:t>viteză</a:t>
            </a:r>
            <a:r>
              <a:rPr lang="en-US" sz="2000" dirty="0"/>
              <a:t> </a:t>
            </a:r>
            <a:r>
              <a:rPr lang="en-US" sz="2000" err="1"/>
              <a:t>liniară</a:t>
            </a:r>
            <a:r>
              <a:rPr lang="en-US" sz="2000" dirty="0"/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-Ultima </a:t>
            </a:r>
            <a:r>
              <a:rPr lang="en-US" sz="2000" dirty="0" err="1"/>
              <a:t>coloană</a:t>
            </a:r>
            <a:r>
              <a:rPr lang="en-US" sz="2000" dirty="0"/>
              <a:t> a </a:t>
            </a:r>
            <a:r>
              <a:rPr lang="en-US" sz="2000" dirty="0" err="1"/>
              <a:t>fiecărei</a:t>
            </a:r>
            <a:r>
              <a:rPr lang="en-US" sz="2000" dirty="0"/>
              <a:t> </a:t>
            </a:r>
            <a:r>
              <a:rPr lang="en-US" sz="2000" dirty="0" err="1"/>
              <a:t>transformată</a:t>
            </a:r>
            <a:r>
              <a:rPr lang="en-US" sz="2000" dirty="0"/>
              <a:t> de la 0-5(</a:t>
            </a:r>
            <a:r>
              <a:rPr lang="en-US" sz="2000" dirty="0" err="1"/>
              <a:t>viteză</a:t>
            </a:r>
            <a:r>
              <a:rPr lang="en-US" sz="2000" dirty="0"/>
              <a:t> </a:t>
            </a:r>
            <a:r>
              <a:rPr lang="en-US" sz="2000" dirty="0" err="1"/>
              <a:t>liniară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2474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6E4668-B760-0663-8EF0-E1303BEAC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Simulare geometrie inversă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6BC8D-4ABC-D0E5-59B4-1417F6688649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-Punct dorit:[300,0,220]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220 – aproximativ înălțimea unei sticle de 0,5l.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-Folosirea Jacobianului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J_pos = J(1:3, :);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Q = Q + alpha * (J_pos' * inv(J_pos * J_pos')) * P;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Q –  pozițiile unghiulare ale cuplelor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Alpha- mărimea pașilor de iterație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P = punctul dorit – punctul efectorului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/>
          </a:p>
        </p:txBody>
      </p:sp>
      <p:pic>
        <p:nvPicPr>
          <p:cNvPr id="4" name="geometrie inversă simulare">
            <a:hlinkClick r:id="" action="ppaction://media"/>
            <a:extLst>
              <a:ext uri="{FF2B5EF4-FFF2-40B4-BE49-F238E27FC236}">
                <a16:creationId xmlns:a16="http://schemas.microsoft.com/office/drawing/2014/main" id="{3B75BDB2-996D-A9CC-AF70-8E1C739AB14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654296" y="831476"/>
            <a:ext cx="6903720" cy="519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0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0A11C5-D537-8D32-157E-5FBD27F30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119" y="810623"/>
            <a:ext cx="4894428" cy="35701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Demonstrație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EBBF56-923D-48A7-9F8F-86E33CFA3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81655" y="673020"/>
            <a:ext cx="4833902" cy="5683329"/>
            <a:chOff x="1674895" y="1345036"/>
            <a:chExt cx="5428610" cy="421093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D5794E-BC9E-4A8A-BB29-9A32C8F26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6175AF-13E0-4D14-8638-11BBE8359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258443E-B333-44F4-8D49-1EAB1C1A4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50256" y="596822"/>
            <a:ext cx="4833901" cy="5653877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3427" y="115962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WhatsApp Video 2025-06-30 at 21.19.02">
            <a:hlinkClick r:id="" action="ppaction://media"/>
            <a:extLst>
              <a:ext uri="{FF2B5EF4-FFF2-40B4-BE49-F238E27FC236}">
                <a16:creationId xmlns:a16="http://schemas.microsoft.com/office/drawing/2014/main" id="{19465AAE-BF5D-0ADA-812E-1F2B0D3C5E68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86439" y="1126418"/>
            <a:ext cx="2561535" cy="4594684"/>
          </a:xfrm>
          <a:prstGeom prst="rect">
            <a:avLst/>
          </a:prstGeom>
          <a:ln w="28575">
            <a:noFill/>
          </a:ln>
        </p:spPr>
      </p:pic>
      <p:sp>
        <p:nvSpPr>
          <p:cNvPr id="24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24285" y="1286612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6" name="Graphic 212">
            <a:extLst>
              <a:ext uri="{FF2B5EF4-FFF2-40B4-BE49-F238E27FC236}">
                <a16:creationId xmlns:a16="http://schemas.microsoft.com/office/drawing/2014/main" id="{EB8560A9-B281-46EB-A304-1E4A5A00D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24285" y="1286612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1256" y="5416520"/>
            <a:ext cx="419129" cy="41912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67882DD-56E8-460E-99D5-86E71982D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1256" y="5416520"/>
            <a:ext cx="419129" cy="419129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42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42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</TotalTime>
  <Words>486</Words>
  <Application>Microsoft Office PowerPoint</Application>
  <PresentationFormat>Ecran lat</PresentationFormat>
  <Paragraphs>64</Paragraphs>
  <Slides>17</Slides>
  <Notes>0</Notes>
  <HiddenSlides>0</HiddenSlides>
  <MMClips>2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Avenir Next LT Pro</vt:lpstr>
      <vt:lpstr>Calibri</vt:lpstr>
      <vt:lpstr>office theme</vt:lpstr>
      <vt:lpstr>Braț robotic pentru sortarea deșeurilor reciclabile</vt:lpstr>
      <vt:lpstr>Scop</vt:lpstr>
      <vt:lpstr>Componente folosite</vt:lpstr>
      <vt:lpstr>Arhitectură</vt:lpstr>
      <vt:lpstr>Aspecte Tehnice: Detecția materialelor</vt:lpstr>
      <vt:lpstr>YOLOv8n</vt:lpstr>
      <vt:lpstr>Etichetarea pozelor</vt:lpstr>
      <vt:lpstr>Antrenare YOLOv8n</vt:lpstr>
      <vt:lpstr>Rezultate YOLOv8n</vt:lpstr>
      <vt:lpstr>Aspecte Tehnice: Detecția markerelor ArUco</vt:lpstr>
      <vt:lpstr>Markere ArUco</vt:lpstr>
      <vt:lpstr>Rezultate calibrare</vt:lpstr>
      <vt:lpstr>Aspecte Tehnice: Simulări în MATLAB</vt:lpstr>
      <vt:lpstr>Configurație</vt:lpstr>
      <vt:lpstr>Jacobian</vt:lpstr>
      <vt:lpstr>Simulare geometrie inversă</vt:lpstr>
      <vt:lpstr>Demonstrație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Laurentiu Condrea</cp:lastModifiedBy>
  <cp:revision>410</cp:revision>
  <dcterms:created xsi:type="dcterms:W3CDTF">2025-06-30T16:33:31Z</dcterms:created>
  <dcterms:modified xsi:type="dcterms:W3CDTF">2025-07-01T05:47:39Z</dcterms:modified>
</cp:coreProperties>
</file>